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1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2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3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bbd07f0e9a439d" /><Relationship Type="http://schemas.openxmlformats.org/officeDocument/2006/relationships/extended-properties" Target="/docProps/app.xml" Id="Rb9809b2b016648d9" /><Relationship Type="http://schemas.openxmlformats.org/officeDocument/2006/relationships/officeDocument" Target="/ppt/presentation.xml" Id="R41198052f42e49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3cbe6ffc034ed2"/>
  </p:sldMasterIdLst>
  <p:notesMasterIdLst>
    <p:notesMasterId xmlns:r="http://schemas.openxmlformats.org/officeDocument/2006/relationships" r:id="R124c6cbee56d42a1"/>
  </p:notesMasterIdLst>
  <p:sldIdLst>
    <p:sldId xmlns:r="http://schemas.openxmlformats.org/officeDocument/2006/relationships" id="256" r:id="Rc5b47e91a4e44660"/>
    <p:sldId xmlns:r="http://schemas.openxmlformats.org/officeDocument/2006/relationships" id="257" r:id="Reb922045d6b84552"/>
    <p:sldId xmlns:r="http://schemas.openxmlformats.org/officeDocument/2006/relationships" id="258" r:id="R9cc0a53adb674b7d"/>
    <p:sldId xmlns:r="http://schemas.openxmlformats.org/officeDocument/2006/relationships" id="259" r:id="R5f4b2c5fcf4d48ae"/>
    <p:sldId xmlns:r="http://schemas.openxmlformats.org/officeDocument/2006/relationships" id="260" r:id="Rccb8382c02444de6"/>
    <p:sldId xmlns:r="http://schemas.openxmlformats.org/officeDocument/2006/relationships" id="261" r:id="R10c5e5c469cf46fd"/>
    <p:sldId xmlns:r="http://schemas.openxmlformats.org/officeDocument/2006/relationships" id="262" r:id="R2721a5cc98ee4b1f"/>
    <p:sldId xmlns:r="http://schemas.openxmlformats.org/officeDocument/2006/relationships" id="263" r:id="R72cb7fc222274305"/>
    <p:sldId xmlns:r="http://schemas.openxmlformats.org/officeDocument/2006/relationships" id="264" r:id="R14c90899789f4abc"/>
    <p:sldId xmlns:r="http://schemas.openxmlformats.org/officeDocument/2006/relationships" id="265" r:id="R035a3f0c95034f1c"/>
    <p:sldId xmlns:r="http://schemas.openxmlformats.org/officeDocument/2006/relationships" id="266" r:id="R3de8f51887c44886"/>
    <p:sldId xmlns:r="http://schemas.openxmlformats.org/officeDocument/2006/relationships" id="267" r:id="Rb41f30382bcf4a73"/>
    <p:sldId xmlns:r="http://schemas.openxmlformats.org/officeDocument/2006/relationships" id="268" r:id="R988be41057f7470e"/>
    <p:sldId xmlns:r="http://schemas.openxmlformats.org/officeDocument/2006/relationships" id="269" r:id="Re255ddcbcdf74648"/>
    <p:sldId xmlns:r="http://schemas.openxmlformats.org/officeDocument/2006/relationships" id="270" r:id="R3625ca16c7ee49e6"/>
    <p:sldId xmlns:r="http://schemas.openxmlformats.org/officeDocument/2006/relationships" id="271" r:id="R836eb199272b4af4"/>
    <p:sldId xmlns:r="http://schemas.openxmlformats.org/officeDocument/2006/relationships" id="272" r:id="R0edba18d43d44b7e"/>
    <p:sldId xmlns:r="http://schemas.openxmlformats.org/officeDocument/2006/relationships" id="273" r:id="Rfdcfd9ecf05b40a2"/>
    <p:sldId xmlns:r="http://schemas.openxmlformats.org/officeDocument/2006/relationships" id="274" r:id="Rd2e4258770064a31"/>
    <p:sldId xmlns:r="http://schemas.openxmlformats.org/officeDocument/2006/relationships" id="275" r:id="R8bbe997824c148d9"/>
    <p:sldId xmlns:r="http://schemas.openxmlformats.org/officeDocument/2006/relationships" id="276" r:id="R98c416cb630d4091"/>
    <p:sldId xmlns:r="http://schemas.openxmlformats.org/officeDocument/2006/relationships" id="277" r:id="Rfe30cab3ac5a4382"/>
    <p:sldId xmlns:r="http://schemas.openxmlformats.org/officeDocument/2006/relationships" id="278" r:id="Ra9523fb08a4f4a29"/>
    <p:sldId xmlns:r="http://schemas.openxmlformats.org/officeDocument/2006/relationships" id="279" r:id="Rbd505c1b96e04174"/>
    <p:sldId xmlns:r="http://schemas.openxmlformats.org/officeDocument/2006/relationships" id="280" r:id="Ra181f4357de545ad"/>
    <p:sldId xmlns:r="http://schemas.openxmlformats.org/officeDocument/2006/relationships" id="281" r:id="R2d82b0f6bf9c4bf7"/>
    <p:sldId xmlns:r="http://schemas.openxmlformats.org/officeDocument/2006/relationships" id="282" r:id="R0b0451db73744ea7"/>
    <p:sldId xmlns:r="http://schemas.openxmlformats.org/officeDocument/2006/relationships" id="283" r:id="Rc500e5ff92974747"/>
    <p:sldId xmlns:r="http://schemas.openxmlformats.org/officeDocument/2006/relationships" id="284" r:id="R2dca3d145e5b4907"/>
    <p:sldId xmlns:r="http://schemas.openxmlformats.org/officeDocument/2006/relationships" id="285" r:id="R0cd976b42ccd4564"/>
    <p:sldId xmlns:r="http://schemas.openxmlformats.org/officeDocument/2006/relationships" id="286" r:id="R4083b42a208e47d8"/>
    <p:sldId xmlns:r="http://schemas.openxmlformats.org/officeDocument/2006/relationships" id="287" r:id="R2c4db12c2e3b4125"/>
    <p:sldId xmlns:r="http://schemas.openxmlformats.org/officeDocument/2006/relationships" id="288" r:id="R9fd1b6866464456e"/>
    <p:sldId xmlns:r="http://schemas.openxmlformats.org/officeDocument/2006/relationships" id="289" r:id="R1749ccf46e8f4a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111e1ab0834f1e" /><Relationship Type="http://schemas.openxmlformats.org/officeDocument/2006/relationships/slideMaster" Target="/ppt/slideMasters/slideMaster1.xml" Id="R9e3cbe6ffc034ed2" /><Relationship Type="http://schemas.openxmlformats.org/officeDocument/2006/relationships/notesMaster" Target="/ppt/notesMasters/notesMaster1.xml" Id="R124c6cbee56d42a1" /><Relationship Type="http://schemas.openxmlformats.org/officeDocument/2006/relationships/presProps" Target="/ppt/presProps.xml" Id="Rf95422009c5645af" /><Relationship Type="http://schemas.openxmlformats.org/officeDocument/2006/relationships/tableStyles" Target="/ppt/tableStyles.xml" Id="R36b5a4249ac3490f" /><Relationship Type="http://schemas.openxmlformats.org/officeDocument/2006/relationships/slide" Target="/ppt/slides/slide1.xml" Id="Rc5b47e91a4e44660" /><Relationship Type="http://schemas.openxmlformats.org/officeDocument/2006/relationships/slide" Target="/ppt/slides/slide2.xml" Id="Reb922045d6b84552" /><Relationship Type="http://schemas.openxmlformats.org/officeDocument/2006/relationships/slide" Target="/ppt/slides/slide3.xml" Id="R9cc0a53adb674b7d" /><Relationship Type="http://schemas.openxmlformats.org/officeDocument/2006/relationships/slide" Target="/ppt/slides/slide4.xml" Id="R5f4b2c5fcf4d48ae" /><Relationship Type="http://schemas.openxmlformats.org/officeDocument/2006/relationships/slide" Target="/ppt/slides/slide5.xml" Id="Rccb8382c02444de6" /><Relationship Type="http://schemas.openxmlformats.org/officeDocument/2006/relationships/slide" Target="/ppt/slides/slide6.xml" Id="R10c5e5c469cf46fd" /><Relationship Type="http://schemas.openxmlformats.org/officeDocument/2006/relationships/slide" Target="/ppt/slides/slide7.xml" Id="R2721a5cc98ee4b1f" /><Relationship Type="http://schemas.openxmlformats.org/officeDocument/2006/relationships/slide" Target="/ppt/slides/slide8.xml" Id="R72cb7fc222274305" /><Relationship Type="http://schemas.openxmlformats.org/officeDocument/2006/relationships/slide" Target="/ppt/slides/slide9.xml" Id="R14c90899789f4abc" /><Relationship Type="http://schemas.openxmlformats.org/officeDocument/2006/relationships/slide" Target="/ppt/slides/slide10.xml" Id="R035a3f0c95034f1c" /><Relationship Type="http://schemas.openxmlformats.org/officeDocument/2006/relationships/slide" Target="/ppt/slides/slide11.xml" Id="R3de8f51887c44886" /><Relationship Type="http://schemas.openxmlformats.org/officeDocument/2006/relationships/slide" Target="/ppt/slides/slide12.xml" Id="Rb41f30382bcf4a73" /><Relationship Type="http://schemas.openxmlformats.org/officeDocument/2006/relationships/slide" Target="/ppt/slides/slide13.xml" Id="R988be41057f7470e" /><Relationship Type="http://schemas.openxmlformats.org/officeDocument/2006/relationships/slide" Target="/ppt/slides/slide14.xml" Id="Re255ddcbcdf74648" /><Relationship Type="http://schemas.openxmlformats.org/officeDocument/2006/relationships/slide" Target="/ppt/slides/slide15.xml" Id="R3625ca16c7ee49e6" /><Relationship Type="http://schemas.openxmlformats.org/officeDocument/2006/relationships/slide" Target="/ppt/slides/slide16.xml" Id="R836eb199272b4af4" /><Relationship Type="http://schemas.openxmlformats.org/officeDocument/2006/relationships/slide" Target="/ppt/slides/slide17.xml" Id="R0edba18d43d44b7e" /><Relationship Type="http://schemas.openxmlformats.org/officeDocument/2006/relationships/slide" Target="/ppt/slides/slide18.xml" Id="Rfdcfd9ecf05b40a2" /><Relationship Type="http://schemas.openxmlformats.org/officeDocument/2006/relationships/slide" Target="/ppt/slides/slide19.xml" Id="Rd2e4258770064a31" /><Relationship Type="http://schemas.openxmlformats.org/officeDocument/2006/relationships/slide" Target="/ppt/slides/slide20.xml" Id="R8bbe997824c148d9" /><Relationship Type="http://schemas.openxmlformats.org/officeDocument/2006/relationships/slide" Target="/ppt/slides/slide21.xml" Id="R98c416cb630d4091" /><Relationship Type="http://schemas.openxmlformats.org/officeDocument/2006/relationships/slide" Target="/ppt/slides/slide22.xml" Id="Rfe30cab3ac5a4382" /><Relationship Type="http://schemas.openxmlformats.org/officeDocument/2006/relationships/slide" Target="/ppt/slides/slide23.xml" Id="Ra9523fb08a4f4a29" /><Relationship Type="http://schemas.openxmlformats.org/officeDocument/2006/relationships/slide" Target="/ppt/slides/slide24.xml" Id="Rbd505c1b96e04174" /><Relationship Type="http://schemas.openxmlformats.org/officeDocument/2006/relationships/slide" Target="/ppt/slides/slide25.xml" Id="Ra181f4357de545ad" /><Relationship Type="http://schemas.openxmlformats.org/officeDocument/2006/relationships/slide" Target="/ppt/slides/slide26.xml" Id="R2d82b0f6bf9c4bf7" /><Relationship Type="http://schemas.openxmlformats.org/officeDocument/2006/relationships/slide" Target="/ppt/slides/slide27.xml" Id="R0b0451db73744ea7" /><Relationship Type="http://schemas.openxmlformats.org/officeDocument/2006/relationships/slide" Target="/ppt/slides/slide28.xml" Id="Rc500e5ff92974747" /><Relationship Type="http://schemas.openxmlformats.org/officeDocument/2006/relationships/slide" Target="/ppt/slides/slide29.xml" Id="R2dca3d145e5b4907" /><Relationship Type="http://schemas.openxmlformats.org/officeDocument/2006/relationships/slide" Target="/ppt/slides/slide30.xml" Id="R0cd976b42ccd4564" /><Relationship Type="http://schemas.openxmlformats.org/officeDocument/2006/relationships/slide" Target="/ppt/slides/slide31.xml" Id="R4083b42a208e47d8" /><Relationship Type="http://schemas.openxmlformats.org/officeDocument/2006/relationships/slide" Target="/ppt/slides/slide32.xml" Id="R2c4db12c2e3b4125" /><Relationship Type="http://schemas.openxmlformats.org/officeDocument/2006/relationships/slide" Target="/ppt/slides/slide33.xml" Id="R9fd1b6866464456e" /><Relationship Type="http://schemas.openxmlformats.org/officeDocument/2006/relationships/slide" Target="/ppt/slides/slide34.xml" Id="R1749ccf46e8f4a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ab23cfd12149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51ecb7f13c4a9d" /><Relationship Type="http://schemas.openxmlformats.org/officeDocument/2006/relationships/notesMaster" Target="/ppt/notesMasters/notesMaster1.xml" Id="R399d853a08e64b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154dabff384e6a" /><Relationship Type="http://schemas.openxmlformats.org/officeDocument/2006/relationships/notesMaster" Target="/ppt/notesMasters/notesMaster1.xml" Id="Rf45df021b87548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91ed1fb9b84451" /><Relationship Type="http://schemas.openxmlformats.org/officeDocument/2006/relationships/notesMaster" Target="/ppt/notesMasters/notesMaster1.xml" Id="R7ab38e1e14b24b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4c42c382134ce7" /><Relationship Type="http://schemas.openxmlformats.org/officeDocument/2006/relationships/notesMaster" Target="/ppt/notesMasters/notesMaster1.xml" Id="R1a0ad247ed5147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fb8cc687734cc0" /><Relationship Type="http://schemas.openxmlformats.org/officeDocument/2006/relationships/notesMaster" Target="/ppt/notesMasters/notesMaster1.xml" Id="R5395eb4a223d4b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5592dbb7894d68" /><Relationship Type="http://schemas.openxmlformats.org/officeDocument/2006/relationships/notesMaster" Target="/ppt/notesMasters/notesMaster1.xml" Id="R456f3da6bb0441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c07a82053e4688" /><Relationship Type="http://schemas.openxmlformats.org/officeDocument/2006/relationships/notesMaster" Target="/ppt/notesMasters/notesMaster1.xml" Id="Rf167cf01056049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dfd687a02948e7" /><Relationship Type="http://schemas.openxmlformats.org/officeDocument/2006/relationships/notesMaster" Target="/ppt/notesMasters/notesMaster1.xml" Id="Rf8003ab37b5446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b8013316134b37" /><Relationship Type="http://schemas.openxmlformats.org/officeDocument/2006/relationships/notesMaster" Target="/ppt/notesMasters/notesMaster1.xml" Id="R1eee0d0249ff41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13fe2162884bcc" /><Relationship Type="http://schemas.openxmlformats.org/officeDocument/2006/relationships/notesMaster" Target="/ppt/notesMasters/notesMaster1.xml" Id="Ra6ff7d23d67841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dfb936e2bd4a6d" /><Relationship Type="http://schemas.openxmlformats.org/officeDocument/2006/relationships/notesMaster" Target="/ppt/notesMasters/notesMaster1.xml" Id="R9bc6904a80c84e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e7a386660c4b71" /><Relationship Type="http://schemas.openxmlformats.org/officeDocument/2006/relationships/notesMaster" Target="/ppt/notesMasters/notesMaster1.xml" Id="R6660fac01e0348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3d3d732bcb42cc" /><Relationship Type="http://schemas.openxmlformats.org/officeDocument/2006/relationships/notesMaster" Target="/ppt/notesMasters/notesMaster1.xml" Id="R3a190628244f43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09ae666a0274109" /><Relationship Type="http://schemas.openxmlformats.org/officeDocument/2006/relationships/notesMaster" Target="/ppt/notesMasters/notesMaster1.xml" Id="R25f8cff16e374ab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79ac22b0dcd4abd" /><Relationship Type="http://schemas.openxmlformats.org/officeDocument/2006/relationships/notesMaster" Target="/ppt/notesMasters/notesMaster1.xml" Id="R0c21e7e903cf44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85024fa0d894e6a" /><Relationship Type="http://schemas.openxmlformats.org/officeDocument/2006/relationships/notesMaster" Target="/ppt/notesMasters/notesMaster1.xml" Id="R9e2ed853b9b244d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5348718d27490c" /><Relationship Type="http://schemas.openxmlformats.org/officeDocument/2006/relationships/notesMaster" Target="/ppt/notesMasters/notesMaster1.xml" Id="R1c7c17a720b2443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4a5957166814255" /><Relationship Type="http://schemas.openxmlformats.org/officeDocument/2006/relationships/notesMaster" Target="/ppt/notesMasters/notesMaster1.xml" Id="R3055afef4c5049f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aeee01dbad547e4" /><Relationship Type="http://schemas.openxmlformats.org/officeDocument/2006/relationships/notesMaster" Target="/ppt/notesMasters/notesMaster1.xml" Id="Ra06ef00dabe9450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e9e8afcfd794595" /><Relationship Type="http://schemas.openxmlformats.org/officeDocument/2006/relationships/notesMaster" Target="/ppt/notesMasters/notesMaster1.xml" Id="R487193672c9045e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6ab49ea121e4a59" /><Relationship Type="http://schemas.openxmlformats.org/officeDocument/2006/relationships/notesMaster" Target="/ppt/notesMasters/notesMaster1.xml" Id="Rbe1bc19e96814da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c060678b3f94fd5" /><Relationship Type="http://schemas.openxmlformats.org/officeDocument/2006/relationships/notesMaster" Target="/ppt/notesMasters/notesMaster1.xml" Id="R79f2f49ab05144e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caef168113d46be" /><Relationship Type="http://schemas.openxmlformats.org/officeDocument/2006/relationships/notesMaster" Target="/ppt/notesMasters/notesMaster1.xml" Id="R1fc96ae1cf4e434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03c33d2cfd54cf7" /><Relationship Type="http://schemas.openxmlformats.org/officeDocument/2006/relationships/notesMaster" Target="/ppt/notesMasters/notesMaster1.xml" Id="R835fcda8da54452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b59032e5b02408e" /><Relationship Type="http://schemas.openxmlformats.org/officeDocument/2006/relationships/notesMaster" Target="/ppt/notesMasters/notesMaster1.xml" Id="Rf8d7044424b74a8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e03bcfe18be401b" /><Relationship Type="http://schemas.openxmlformats.org/officeDocument/2006/relationships/notesMaster" Target="/ppt/notesMasters/notesMaster1.xml" Id="R8b600eed7bd640e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a27b6a3dff94f8b" /><Relationship Type="http://schemas.openxmlformats.org/officeDocument/2006/relationships/notesMaster" Target="/ppt/notesMasters/notesMaster1.xml" Id="R3e205d51a18f41b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5c5213818cb41b0" /><Relationship Type="http://schemas.openxmlformats.org/officeDocument/2006/relationships/notesMaster" Target="/ppt/notesMasters/notesMaster1.xml" Id="R833f84c1a6de4e9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6f91da6e77b4a8b" /><Relationship Type="http://schemas.openxmlformats.org/officeDocument/2006/relationships/notesMaster" Target="/ppt/notesMasters/notesMaster1.xml" Id="Rad2daceda72a47c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f5b804594b54d93" /><Relationship Type="http://schemas.openxmlformats.org/officeDocument/2006/relationships/notesMaster" Target="/ppt/notesMasters/notesMaster1.xml" Id="R1f74b36a61c447a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432d9dd79994acf" /><Relationship Type="http://schemas.openxmlformats.org/officeDocument/2006/relationships/notesMaster" Target="/ppt/notesMasters/notesMaster1.xml" Id="R98093d998f8447a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b48caea342d47d5" /><Relationship Type="http://schemas.openxmlformats.org/officeDocument/2006/relationships/notesMaster" Target="/ppt/notesMasters/notesMaster1.xml" Id="R508f4b3466a04f1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ad89e8fbbab4c83" /><Relationship Type="http://schemas.openxmlformats.org/officeDocument/2006/relationships/notesMaster" Target="/ppt/notesMasters/notesMaster1.xml" Id="R609adf53038b447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ea2e5f5952e4b52" /><Relationship Type="http://schemas.openxmlformats.org/officeDocument/2006/relationships/notesMaster" Target="/ppt/notesMasters/notesMaster1.xml" Id="R5937784b36dd4a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本页概览同一条 238 aa GFP 在本地完成的计算链。后续页面把输入编号、冻结 ESMC 推理、遮挡评分、SAE 查表和外部结构审计分开解释。每个结论都回到保存的文件和独立来源。下一页先界定本次复现可以回答的问题。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本次运行回答的是计算流程与保存结果能支持什么。矩阵、评分和激活条目都是直接工件。SAE 描述和结构记录用于解释候选语义。功能层面的判断需要额外证据。下一页把同一残基沿五段计算链串起来。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路线图将同一残基作为跨页对象。输入部分固定编号和向量。模型部分说明 80 层如何更新表示。运行部分把遮挡输出转为两个评分分量。SAE 和外部结构记录分别提供解释与边界。下一页先核验测试序列。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这一页确认我们分析的对象。测试 FASTA 为 238 个残基。61 到 70 的窗口显示已知发色团相关的 S65、Y66、G67。PDB 1EMA 的结构编号需要单独映射，因为 CRO 将三个输入残基压缩为一个结构条目。下一页转向保存的运行文件。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这里建立文件与对象的对应关系。每个核心结论可以回到原始 FASTA、NPZ、CSV 或 metadata。Top10 是完整 238 行排序的摘录，不能替代全表。下一页开始解释 token 编号怎样与 FASTA 对齐。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特殊 token 决定序列边界。实际 tokenizer 输出 &lt;cls&gt;、238 个残基和 &lt;eos&gt;，总长度为 240。程序依据 special_tokens_mask 选择 238 个残基位置，并逐个反查 FASTA 字符。这样 t_i 始终表示 a_i 的模型 token 位置。下一页在这些位置导出 2560 维上下文向量。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上一页固定了 token 位置。本页区分 token ID、初始 embedding 和上下文化 hidden state。模型导出第 80 个状态后，程序只保留 238 个残基位置，形成 H。每行 h_i 的宽度为 2560。均值蛋白向量沿残基维度平均，因此仍是 2560 维。下一页进入 80 层模型结构。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模型将同一序列表示反复送入 80 个 block。外部接口始终是 T 乘 2560。每层内有 40 个 64 维 attention head，以及 6912 维 SwiGLU 中间层。运行采用 pre-LN、Q/K LayerNorm、RoPE 和 SDPA。下一页展开一个 head 的 Q、K、V 投影。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Q、K、V 都从同一个 X 线性投影得到。完整投影先保留 T 乘 2560。Q 与 K 在完整 2560 维末轴执行 LayerNorm，随后拆成 40 个宽度 64 的 head。下方矩阵标注只展示一个 head 的参数切片。Q 表示当前 token 希望检索什么，K 提供可匹配的索引，V 提供随后被聚合的内容。预训练阶段的 loss 可以把梯度回传到三个 W。本次 GFP 分析只执行冻结前向计算。下一页把 Q 与 K 的分数归一化。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Q、K 给出实数匹配分数后，Softmax 负责把同一 Query 的竞争关系变成权重。单头分数矩阵 S∈R^(T×T)，第 i 行固定 Query i，第 j 列对应 Key j；本模型先在 B×T×2560 的末维对 Q/K 做 LayerNorm，再拆为 40×64、施加 RoPE，并按头宽 64 缩放。玩具数值例子取 scores=[ln1,ln2,ln3]，指数为 [1,2,3]，归一化后 A=[1/6,2/6,3/6]，行和为 1；分母只沿 Key 列求和。真实 GFP 的 A 为 240×240，页面没有把玩具图冒充实测 attention。预训练中梯度经 Softmax 回到 Q/K 参数；本次只读。下一页用同一组 A 把 Value 汇成输出。来源：S05、S06、S07。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S05 [本地运行实现]: E:\ESMC\esmc_feature_site_pipeline\run_esmc_site_pipeline.py</a:t>
            </a:r>
          </a:p>
          <a:p xmlns:a="http://schemas.openxmlformats.org/drawingml/2006/main">
            <a:r>
              <a:t>S06 [独立审计结构化数据]: E:\ESMC\ppt_handoff_20260906\evidence.json</a:t>
            </a:r>
          </a:p>
          <a:p xmlns:a="http://schemas.openxmlformats.org/drawingml/2006/main">
            <a:r>
              <a:t>S07 [Biohub/esm 官方仓库]: https://github.com/Biohub/esm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沿用上一页的三项权重，Attention 输出为 o_i=Σ_j A_ijv_j。玩具例子令 V=[[1,0],[0,2],[2,2]]，形状 3×2；用 [1/6,2/6,3/6] 左乘后，o=[7/6,5/3]，输出仍为二维。这个乘法消去的是来源 token 轴 3，保留 Query 行和 Value 的两个通道；每个权重会缩放 Value 的全部通道。一般情形中 A∈R^(T×T)、V∈R^(T×64)，得到 O∈R^(T×64)；40 个头拼接回 T×2560，再经 W_O 混合。权重描述信息路由，生物学意义需要独立证据。预训练梯度同时经过 A 与 V；本次保持冻结。下一页接着解释残差和门控如何保持这个宽度接口。来源：S05、S06、S07。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S05 [本地运行实现]: E:\ESMC\esmc_feature_site_pipeline\run_esmc_site_pipeline.py</a:t>
            </a:r>
          </a:p>
          <a:p xmlns:a="http://schemas.openxmlformats.org/drawingml/2006/main">
            <a:r>
              <a:t>S06 [独立审计结构化数据]: E:\ESMC\ppt_handoff_20260906\evidence.json</a:t>
            </a:r>
          </a:p>
          <a:p xmlns:a="http://schemas.openxmlformats.org/drawingml/2006/main">
            <a:r>
              <a:t>S07 [Biohub/esm 官方仓库]: https://github.com/Biohub/esm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Attention 的 T×2560 输出先回到主干，再进入同形状的下一层。当前 block 采用 Pre-LN：Y=X+Attention(LN(X))/s，X_next=Y+SwiGLU(LN(Y))/s，s=√(80/36)=1.490712；融合 fc1 输出 13824 通道，门控支路与内容支路各为 6912 通道，逐元素相乘后投回 2560。例子中任一 token 的残差加法逐坐标相加，因此两项宽度都须为 2560；Attention branch 的 layernorm_qkv 与 FFN pre-LN 带 layer_norm_bias，Q/K LN 和 final LN 用 bias=False。LN、注意力和 FFN 参数在预训练中由交叉熵梯度更新，恒等残差为深层梯度提供直接通路；本次是冻结前向。下一页把这种历史训练目标与本地推理清楚分开。来源：S05、S06、S07。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S05 [本地运行实现]: E:\ESMC\esmc_feature_site_pipeline\run_esmc_site_pipeline.py</a:t>
            </a:r>
          </a:p>
          <a:p xmlns:a="http://schemas.openxmlformats.org/drawingml/2006/main">
            <a:r>
              <a:t>S06 [独立审计结构化数据]: E:\ESMC\ppt_handoff_20260906\evidence.json</a:t>
            </a:r>
          </a:p>
          <a:p xmlns:a="http://schemas.openxmlformats.org/drawingml/2006/main">
            <a:r>
              <a:t>S07 [Biohub/esm 官方仓库]: https://github.com/Biohub/esm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前面的 block 之所以形成上下文表示，来自预训练的掩码恢复目标。对被遮挡位置 i，输出头给出 z_i∈R^64，经 Softmax 得到类别分布 p_i；真实氨基酸标签 y_i 选择其中一类，损失为 −log p_i(y_i)。玩具数值例子中 p_y=0.7 时损失约 0.357，p_y=0.1 时约 2.303，且对 logit 的梯度为 p−y，参数更新可写作 θ←θ−η∇θL。该梯度依次更新输出头、80 层和 embedding；本地扫描随后从 64 类中取 20 个标准氨基酸重算分布。当前 GFP 运行使用 inference_mode，只做前向评分，没有局部 loss、反向或微调。下一页回到实际旧权重如何接入当前接口。来源：S05、S07、S08、S09。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S05 [本地运行实现]: E:\ESMC\esmc_feature_site_pipeline\run_esmc_site_pipeline.py</a:t>
            </a:r>
          </a:p>
          <a:p xmlns:a="http://schemas.openxmlformats.org/drawingml/2006/main">
            <a:r>
              <a:t>S07 [Biohub/esm 官方仓库]: https://github.com/Biohub/esm</a:t>
            </a:r>
          </a:p>
          <a:p xmlns:a="http://schemas.openxmlformats.org/drawingml/2006/main">
            <a:r>
              <a:t>S08 [旧 ESMC checkpoint 模型卡]: https://huggingface.co/biohub/esmc-6b-2024-12</a:t>
            </a:r>
          </a:p>
          <a:p xmlns:a="http://schemas.openxmlformats.org/drawingml/2006/main">
            <a:r>
              <a:t>S09 [当前 ESMC 6B 模型卡]: https://huggingface.co/biohub/ESMC-6B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训练原理之后，说明本次权重来源与加载范围。运行锁定旧 checkpoint `biohub/esmc-6b-2024-12` 的 revision ffd268e4；官方当前入口使用 `biohub/ESMC-6B`。本地 adapter 对 7 类 legacy suffix 做一对一键名转换，并按 key/shape 加载。它检查载入路径和张量接口，输出仍为 T×2560；官方基线的逐元素数值校准待完成。缓存 config 的 mask_token_id=31 属于遗留序列化字段；官方 tokenizer 以 mask=32、chain_break=31 生成实际遮挡。跨实现输出与 MLM 数值待官方基线校准。安装环境走 SDPA，本次无梯度更新。下一页解释两阶段加载怎样适配显存。来源：S01、S05、S06、S08、S09、S16、S19。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S01 [本次运行元数据]: E:\ESMC\runs\run_20260905T135554Z_smoke_gfp\run_metadata.json</a:t>
            </a:r>
          </a:p>
          <a:p xmlns:a="http://schemas.openxmlformats.org/drawingml/2006/main">
            <a:r>
              <a:t>S05 [本地运行实现]: E:\ESMC\esmc_feature_site_pipeline\run_esmc_site_pipeline.py</a:t>
            </a:r>
          </a:p>
          <a:p xmlns:a="http://schemas.openxmlformats.org/drawingml/2006/main">
            <a:r>
              <a:t>S06 [独立审计结构化数据]: E:\ESMC\ppt_handoff_20260906\evidence.json</a:t>
            </a:r>
          </a:p>
          <a:p xmlns:a="http://schemas.openxmlformats.org/drawingml/2006/main">
            <a:r>
              <a:t>S08 [旧 ESMC checkpoint 模型卡]: https://huggingface.co/biohub/esmc-6b-2024-12</a:t>
            </a:r>
          </a:p>
          <a:p xmlns:a="http://schemas.openxmlformats.org/drawingml/2006/main">
            <a:r>
              <a:t>S09 [当前 ESMC 6B 模型卡]: https://huggingface.co/biohub/ESMC-6B</a:t>
            </a:r>
          </a:p>
          <a:p xmlns:a="http://schemas.openxmlformats.org/drawingml/2006/main">
            <a:r>
              <a:t>S16 [兼容性与边界审计]: E:\ESMC\ppt_handoff_20260906\evidence.json (compatibility_observations; compatibility_and_scientific_boundaries; mask_id_audit)</a:t>
            </a:r>
          </a:p>
          <a:p xmlns:a="http://schemas.openxmlformats.org/drawingml/2006/main">
            <a:r>
              <a:t>S19 [官方 ESMC tokenizer]: https://raw.githubusercontent.com/Biohub/esm/bf343ba264b650dff7a073643725f9aaa1fdbe8d/esm/models/esmc/tokenizer.py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运行用两段加载控制显存。第一阶段载入 6B，处理 B=1、T=240 的前向、H∈R^(238×2560) 导出和 238 次遮挡；释放 dense model 后，再载入 6B 与 layer60 SAE，返回 N×16384 稀疏输出。本次无 padding，N=240 含 cls/eos；runner 筛选 residue token，输出 15,232 条长表记录，概念矩阵为 238×16384。例子是 GPU 采样：加载后 12,215.5 MiB（11.93 GiB），释放后 9.1 MiB，均为采样点。参数为 RTX 5080 Laptop、BF16、batch1、device_map auto、SDPA。两阶段均在 inference_mode 下冻结。下一页查看每次遮挡。来源：S01、S04、S05、S18。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S01 [本次运行元数据]: E:\ESMC\runs\run_20260905T135554Z_smoke_gfp\run_metadata.json</a:t>
            </a:r>
          </a:p>
          <a:p xmlns:a="http://schemas.openxmlformats.org/drawingml/2006/main">
            <a:r>
              <a:t>S04 [本次 SAE 激活与摘要]: E:\ESMC\runs\run_20260905T135554Z_smoke_gfp\sae_residue_activations.csv; E:\ESMC\runs\run_20260905T135554Z_smoke_gfp\sae_feature_summary.csv</a:t>
            </a:r>
          </a:p>
          <a:p xmlns:a="http://schemas.openxmlformats.org/drawingml/2006/main">
            <a:r>
              <a:t>S05 [本地运行实现]: E:\ESMC\esmc_feature_site_pipeline\run_esmc_site_pipeline.py</a:t>
            </a:r>
          </a:p>
          <a:p xmlns:a="http://schemas.openxmlformats.org/drawingml/2006/main">
            <a:r>
              <a:t>S18 [已安装 ESM SAE 实现]: E:\ESMC\esmc_feature_site_pipeline\.venv312\Lib\site-packages\esm\models\esmc\sae.py; E:\ESMC\esmc_feature_site_pipeline\.venv312\Lib\site-packages\esm\models\esmc\model.py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现在从硬件过程落到评分输入。对每个 i=1…238，runner 复制同一条长度 T=240 的 token 序列，只把 t_i 换成 `&lt;mask&gt;`；例如 G24 的上下文保持，只有第 24 个残基 token 被遮挡。模型在该位置输出 64 类 logits，脚本取 20 个标准氨基酸并在这 20 类内重新 Softmax，得到长度 20 的概率向量和熵 H_i=−Σp log p。每个 i 最终对应一行评分记录。T 保持不变，便于逐位比较；attention 使用有效位点信息，没有因果遮罩。预训练时掩码标签产生交叉熵梯度，本次逐位循环只读模型输出。下一页用 G24 的实数值定义条件偏好。来源：S03、S05、S06。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S03 [本次候选评分表]: E:\ESMC\runs\run_20260905T135554Z_smoke_gfp\candidate_sites_all.csv; E:\ESMC\runs\run_20260905T135554Z_smoke_gfp\top_candidate_sites.csv</a:t>
            </a:r>
          </a:p>
          <a:p xmlns:a="http://schemas.openxmlformats.org/drawingml/2006/main">
            <a:r>
              <a:t>S05 [本地运行实现]: E:\ESMC\esmc_feature_site_pipeline\run_esmc_site_pipeline.py</a:t>
            </a:r>
          </a:p>
          <a:p xmlns:a="http://schemas.openxmlformats.org/drawingml/2006/main">
            <a:r>
              <a:t>S06 [独立审计结构化数据]: E:\ESMC\ppt_handoff_20260906\evidence.json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遮挡给出同一上下文下 20 类的相对偏好。定义 m_i=log p(a_i)−max_{b∈A_i^alt}log p(b)，其中 a_i 是 FASTA 的观察残基，A_i^alt 是其余 19 个标准氨基酸；m_i 的单位为自然对数边际。G24 的 log p(G)=-1.72166967，最优替代 K 的 log p=-2.50291967，所以 m_24=0.78125，熵为 2.7862651。正值表示观察残基高于该替代集合的最大项；该量仍是模型条件偏好标量。它在 scalar 表中每位一项，后续将与新颖度一起标准化。预训练梯度来自 MLM，当前 m_i 由冻结前向读出。下一页定义 n_i 的邻域比较。来源：S03、S05。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S03 [本次候选评分表]: E:\ESMC\runs\run_20260905T135554Z_smoke_gfp\candidate_sites_all.csv; E:\ESMC\runs\run_20260905T135554Z_smoke_gfp\top_candidate_sites.csv</a:t>
            </a:r>
          </a:p>
          <a:p xmlns:a="http://schemas.openxmlformats.org/drawingml/2006/main">
            <a:r>
              <a:t>S05 [本地运行实现]: E:\ESMC\esmc_feature_site_pipeline\run_esmc_site_pipeline.py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m_i 衡量遮挡后恢复原残基的偏好，n_i 再问该位置的上下文化向量是否偏离邻域。对 h_i∈R^2560，取左右各至多 5 个邻居的均值 c_i∈R^2560，计算 n_i=1−cos(h_i,c_i)；余弦分母是两个向量范数的乘积，两向量同向时 cos=1、n=0，正交的玩具例子 cos=0、n=1。G24 的实测 n_24=0.1674523，这是无量纲标量。c_24 汇集 position 19–23 与 25–29 的十行向量。序列端点可用邻居较少，因而读全长曲线时要保留端点效应。这里的二维图仅作几何示意，完整计算在 2560 维。H 和 n 都来自冻结前向；下一页把 m、n 合并成可审计的 s。来源：S02、S03、S05。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S02 [输入序列与导出表示]: E:\ESMC\runs\run_20260905T135554Z_smoke_gfp\input_sequence.fasta; E:\ESMC\runs\run_20260905T135554Z_smoke_gfp\residue_embeddings.npz</a:t>
            </a:r>
          </a:p>
          <a:p xmlns:a="http://schemas.openxmlformats.org/drawingml/2006/main">
            <a:r>
              <a:t>S03 [本次候选评分表]: E:\ESMC\runs\run_20260905T135554Z_smoke_gfp\candidate_sites_all.csv; E:\ESMC\runs\run_20260905T135554Z_smoke_gfp\top_candidate_sites.csv</a:t>
            </a:r>
          </a:p>
          <a:p xmlns:a="http://schemas.openxmlformats.org/drawingml/2006/main">
            <a:r>
              <a:t>S05 [本地运行实现]: E:\ESMC\esmc_feature_site_pipeline\run_esmc_site_pipeline.py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这页把两个标量统一到同一排序尺度。对 u 使用 z(u)=(u−median)/scale，scale=1.4826MAD；本运行的 s_i=0.7z(max(m_i,0))+0.3z(n_i)，故 s∈R^238。238 位中 m 为正的有 28 个，裁剪后该分量的 median 与 MAD 为零，代码回退到 std=0.2061997034；210 个负 m 经裁剪后为零，条件偏好 z 固定为零，它们的相对次序完全由新颖度项决定；n 的 MAD-scale 为 0.0270947251。例子是 G24 的两支 z 分量共同给出 s_24=3.4225727。0.7、0.3 是初始启发权重，rank 只服务这条蛋白的排序。当前排名仅由 m、n 计算，SAE 只在后段解释。预训练梯度未在本次执行。下一页把全部 238 个 s_i 画成曲线。来源：S03、S05、S06。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S03 [本次候选评分表]: E:\ESMC\runs\run_20260905T135554Z_smoke_gfp\candidate_sites_all.csv; E:\ESMC\runs\run_20260905T135554Z_smoke_gfp\top_candidate_sites.csv</a:t>
            </a:r>
          </a:p>
          <a:p xmlns:a="http://schemas.openxmlformats.org/drawingml/2006/main">
            <a:r>
              <a:t>S05 [本地运行实现]: E:\ESMC\esmc_feature_site_pipeline\run_esmc_site_pipeline.py</a:t>
            </a:r>
          </a:p>
          <a:p xmlns:a="http://schemas.openxmlformats.org/drawingml/2006/main">
            <a:r>
              <a:t>S06 [独立审计结构化数据]: E:\ESMC\ppt_handoff_20260906\evidence.json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综合分数已经定义，这张图显示其在 238 个 FASTA 位置上的完整分布。横轴是 1-based position，纵轴为 s_i；每个点来自同一张 candidate_sites_all 表，因此包含 M1 和 SYG 区域。例子中 G24 的坐标为 position=24、score=3.4226，读者可同时回查 m、n 两个分量。端点只有较短的 ±5 邻域，M1 的高值也提示需要单独敏感性检查；页面没有把未来的端点剔除实验写成现有结果。曲线来自冻结推理的一条蛋白，且 SAE 未参与任何点的计算。下一页将曲线压缩为完整 top10 表。来源：S03、S05。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S03 [本次候选评分表]: E:\ESMC\runs\run_20260905T135554Z_smoke_gfp\candidate_sites_all.csv; E:\ESMC\runs\run_20260905T135554Z_smoke_gfp\top_candidate_sites.csv</a:t>
            </a:r>
          </a:p>
          <a:p xmlns:a="http://schemas.openxmlformats.org/drawingml/2006/main">
            <a:r>
              <a:t>S05 [本地运行实现]: E:\ESMC\esmc_feature_site_pipeline\run_esmc_site_pipeline.py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曲线的可读摘要是按 s_i 降序列出的 10 个位置。表中的 rank、position、residue、m、n、s 都是一行一个残基的标量字段；例如 M1 的 s=10.9852，G24 的 s=3.4226，随后为 K26、G20、G40、G91、K45、D173、L195、G174。rank 描述这 238 个 s_i 的次序，概率语义未赋予该字段。top10 让我们比较内部候选与起点候选，也保留所有数值以便回查。它来自同一冻结前向和固定 0.7/0.3 设置；SAE 特征尚未加入排名。下一页单独检查 M1 的端点信号。来源：S03、S05。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S03 [本次候选评分表]: E:\ESMC\runs\run_20260905T135554Z_smoke_gfp\candidate_sites_all.csv; E:\ESMC\runs\run_20260905T135554Z_smoke_gfp\top_candidate_sites.csv</a:t>
            </a:r>
          </a:p>
          <a:p xmlns:a="http://schemas.openxmlformats.org/drawingml/2006/main">
            <a:r>
              <a:t>S05 [本地运行实现]: E:\ESMC\esmc_feature_site_pipeline\run_esmc_site_pipeline.py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top10 的首位 M1 需要先按位置属性解释。M1 是 FASTA 的起始甲硫氨酸，m_1=2.8046874、n_1=0.2300912、s_1=10.9852268；它与 G24、K26、G20、G40 的横向条形比较显示出明显端点影响。每个条都只是 s_i 标量，形状为选中 5 位的长度 5 向量。例子是删除端点或改变邻域窗口可作为未来敏感性分析的设计，当前运行保留原始 M1 次序。预训练梯度塑造了模型对序列起点的统计响应；本次没有额外训练或消融。下一页用已知发色团做一个独立的排序参照。来源：S02、S03、S04、S05。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S02 [输入序列与导出表示]: E:\ESMC\runs\run_20260905T135554Z_smoke_gfp\input_sequence.fasta; E:\ESMC\runs\run_20260905T135554Z_smoke_gfp\residue_embeddings.npz</a:t>
            </a:r>
          </a:p>
          <a:p xmlns:a="http://schemas.openxmlformats.org/drawingml/2006/main">
            <a:r>
              <a:t>S03 [本次候选评分表]: E:\ESMC\runs\run_20260905T135554Z_smoke_gfp\candidate_sites_all.csv; E:\ESMC\runs\run_20260905T135554Z_smoke_gfp\top_candidate_sites.csv</a:t>
            </a:r>
          </a:p>
          <a:p xmlns:a="http://schemas.openxmlformats.org/drawingml/2006/main">
            <a:r>
              <a:t>S04 [本次 SAE 激活与摘要]: E:\ESMC\runs\run_20260905T135554Z_smoke_gfp\sae_residue_activations.csv; E:\ESMC\runs\run_20260905T135554Z_smoke_gfp\sae_feature_summary.csv</a:t>
            </a:r>
          </a:p>
          <a:p xmlns:a="http://schemas.openxmlformats.org/drawingml/2006/main">
            <a:r>
              <a:t>S05 [本地运行实现]: E:\ESMC\esmc_feature_site_pipeline\run_esmc_site_pipeline.py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独立参照把当前排序放回 GFP 生物学背景。UniProt P42212 的 canonical GFP 发色团三元组为 S65、Y66、G67；1EMA 是 S65T、Q80R 变体，提供结构编号与 CRO 参照。在本次 s∈R^238 的排序中，它们分别为 rank 225、223、211，分数为 -0.3877、-0.3572、-0.3005，而 G24 为 rank 2。例子说明 rank 轴越小越靠前，三元组的三个位置仍保留在全部表中。这个观察的结论范围止于当前 GFP 控制、旧 checkpoint 加载路径和既定评分；模型能力、色团化学与功能识别需要官方匹配推理、多蛋白和功能数据校准。SAE 仍未进入 s。下一页转向 SAE 如何读取第 60 层表示。来源：S03、S12、S13、S14。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S03 [本次候选评分表]: E:\ESMC\runs\run_20260905T135554Z_smoke_gfp\candidate_sites_all.csv; E:\ESMC\runs\run_20260905T135554Z_smoke_gfp\top_candidate_sites.csv</a:t>
            </a:r>
          </a:p>
          <a:p xmlns:a="http://schemas.openxmlformats.org/drawingml/2006/main">
            <a:r>
              <a:t>S12 [UniProt GFP_AEQVI / P42212]: https://www.uniprot.org/uniprotkb/P42212</a:t>
            </a:r>
          </a:p>
          <a:p xmlns:a="http://schemas.openxmlformats.org/drawingml/2006/main">
            <a:r>
              <a:t>S13 [RCSB PDB 1EMA]: https://www.rcsb.org/structure/1EMA</a:t>
            </a:r>
          </a:p>
          <a:p xmlns:a="http://schemas.openxmlformats.org/drawingml/2006/main">
            <a:r>
              <a:t>S14 [1EMA 原始 mmCIF 与 API 摘要]: E:\ESMC\ppt_handoff_20260906\sources\audit\1EMA.cif; E:\ESMC\ppt_handoff_20260906\sources\audit\1EMA.A.current-api.json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排名完成后，SAE 为解释提供另一条冻结读取通道。对每条 layer60 表示 h_i∈R^2560，它沿末维即时计算均值 μ_i 与标准差 σ_i（各为 R^1）并作 z-score；随后 x_i−b_dec 经 W_enc∈R^(2560×16384)、ReLU 与沿 feature 维的 TopK(k=64) 得到 f_i∈R^16384，再由 W_dec∈R^(16384×2560) 和 b_dec 重建到 R^2560。例子中实际返回为 N×16384；本次 N=240 含 cls/eos，筛选 residue token 后导出 238×16384。W_enc、W_dec 独立且无 b_enc；本运行默认 normalize_sae=false，CSV 保留 raw activation，未施加逐 feature max/IDF 标度。SAE 训练冻结 ESMC、更新 SAE 参数以承受重建梯度；本次二者均冻结，ranking 仍只用 m、n。下一页核对 64 的稀疏度。来源：S01、S04、S05、S10、S18。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S01 [本次运行元数据]: E:\ESMC\runs\run_20260905T135554Z_smoke_gfp\run_metadata.json</a:t>
            </a:r>
          </a:p>
          <a:p xmlns:a="http://schemas.openxmlformats.org/drawingml/2006/main">
            <a:r>
              <a:t>S04 [本次 SAE 激活与摘要]: E:\ESMC\runs\run_20260905T135554Z_smoke_gfp\sae_residue_activations.csv; E:\ESMC\runs\run_20260905T135554Z_smoke_gfp\sae_feature_summary.csv</a:t>
            </a:r>
          </a:p>
          <a:p xmlns:a="http://schemas.openxmlformats.org/drawingml/2006/main">
            <a:r>
              <a:t>S05 [本地运行实现]: E:\ESMC\esmc_feature_site_pipeline\run_esmc_site_pipeline.py</a:t>
            </a:r>
          </a:p>
          <a:p xmlns:a="http://schemas.openxmlformats.org/drawingml/2006/main">
            <a:r>
              <a:t>S10 [ESMC 6B SAE layer60 模型卡]: https://huggingface.co/biohub/ESMC-6B-sae-layer60-k64-codebook16384</a:t>
            </a:r>
          </a:p>
          <a:p xmlns:a="http://schemas.openxmlformats.org/drawingml/2006/main">
            <a:r>
              <a:t>S18 [已安装 ESM SAE 实现]: E:\ESMC\esmc_feature_site_pipeline\.venv312\Lib\site-packages\esm\models\esmc\sae.py; E:\ESMC\esmc_feature_site_pipeline\.venv312\Lib\site-packages\esm\models\esmc\model.py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SAE 的输出可按稀疏矩阵理解：F∈R^(238×16384)，每行对应一个残基、每列对应一个 feature ID。本运行实际保存 15,232 条非零记录，等于 238×64；全部 238 个位置各有 64 项，合计覆盖 1,134 个不同 ID。玩具 6×12 矩阵只用来显示零值怎样省略，真实 CSV 保存的是 (position, feature_id, activation) 三元组。k=64 表示每位置的组合预算，1,134 表示这条蛋白触发过的特征集合规模。原始 activation 没有跨 feature 的归一化，本页不把数值大小转成置信度。SAE 与 ESMC 均冻结。下一页把 feature ID 连接到官方描述表。来源：S01、S04、S05、S10、S11。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S01 [本次运行元数据]: E:\ESMC\runs\run_20260905T135554Z_smoke_gfp\run_metadata.json</a:t>
            </a:r>
          </a:p>
          <a:p xmlns:a="http://schemas.openxmlformats.org/drawingml/2006/main">
            <a:r>
              <a:t>S04 [本次 SAE 激活与摘要]: E:\ESMC\runs\run_20260905T135554Z_smoke_gfp\sae_residue_activations.csv; E:\ESMC\runs\run_20260905T135554Z_smoke_gfp\sae_feature_summary.csv</a:t>
            </a:r>
          </a:p>
          <a:p xmlns:a="http://schemas.openxmlformats.org/drawingml/2006/main">
            <a:r>
              <a:t>S05 [本地运行实现]: E:\ESMC\esmc_feature_site_pipeline\run_esmc_site_pipeline.py</a:t>
            </a:r>
          </a:p>
          <a:p xmlns:a="http://schemas.openxmlformats.org/drawingml/2006/main">
            <a:r>
              <a:t>S10 [ESMC 6B SAE layer60 模型卡]: https://huggingface.co/biohub/ESMC-6B-sae-layer60-k64-codebook16384</a:t>
            </a:r>
          </a:p>
          <a:p xmlns:a="http://schemas.openxmlformats.org/drawingml/2006/main">
            <a:r>
              <a:t>S11 [ESMC SAE Features 数据集]: https://huggingface.co/datasets/biohub/ESMC-SAE-Features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`feature_id` 是 codebook 索引；按它 join 稀疏条目，和 1-based FASTA position 不混用，也不加 1。合并 (position, feature_id, activation) 与 (feature_id, description) 形成解释表；1,134 个活跃 ID 都有 description。覆盖率只表示 ID 有文本；泛化或意义未知条目仍需独立建立生物学含义。如 G24 的 F13094 对应“β-strand-connecting loop/turn”类描述。描述来自官方 agent-generated 数据集，含义需外部证据。排名只由 m、n 组成，join 不回写 s_i；raw activation 未做 IDF/max 标准化。下页审阅 M1。来源：S04、S05、S10、S11。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S04 [本次 SAE 激活与摘要]: E:\ESMC\runs\run_20260905T135554Z_smoke_gfp\sae_residue_activations.csv; E:\ESMC\runs\run_20260905T135554Z_smoke_gfp\sae_feature_summary.csv</a:t>
            </a:r>
          </a:p>
          <a:p xmlns:a="http://schemas.openxmlformats.org/drawingml/2006/main">
            <a:r>
              <a:t>S05 [本地运行实现]: E:\ESMC\esmc_feature_site_pipeline\run_esmc_site_pipeline.py</a:t>
            </a:r>
          </a:p>
          <a:p xmlns:a="http://schemas.openxmlformats.org/drawingml/2006/main">
            <a:r>
              <a:t>S10 [ESMC 6B SAE layer60 模型卡]: https://huggingface.co/biohub/ESMC-6B-sae-layer60-k64-codebook16384</a:t>
            </a:r>
          </a:p>
          <a:p xmlns:a="http://schemas.openxmlformats.org/drawingml/2006/main">
            <a:r>
              <a:t>S11 [ESMC SAE Features 数据集]: https://huggingface.co/datasets/biohub/ESMC-SAE-Features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join 用在排名第 1 的 M1，可看到两个为讲解而选的代表性 feature：F8545 的 activation 为 9.5625、活跃于 5 个位置，描述指向可及链端；F11504 为 3.4375、只活跃于 position 1，描述指向 initiator methionine。M1 的字符与位置均来自 FASTA，f_1 是长度 16384 且有 64 个非零值的稀疏向量。这里选择的是可审阅语义，原始 activation 的跨 ID 大小不承担“最强生物信号”含义。SAE 描述与 M1 端点属性相容，功能证据留给独立来源。下一页以内部候选 G24 检查局部转角语义。来源：S02、S04、S10、S11、S13、S14。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S02 [输入序列与导出表示]: E:\ESMC\runs\run_20260905T135554Z_smoke_gfp\input_sequence.fasta; E:\ESMC\runs\run_20260905T135554Z_smoke_gfp\residue_embeddings.npz</a:t>
            </a:r>
          </a:p>
          <a:p xmlns:a="http://schemas.openxmlformats.org/drawingml/2006/main">
            <a:r>
              <a:t>S04 [本次 SAE 激活与摘要]: E:\ESMC\runs\run_20260905T135554Z_smoke_gfp\sae_residue_activations.csv; E:\ESMC\runs\run_20260905T135554Z_smoke_gfp\sae_feature_summary.csv</a:t>
            </a:r>
          </a:p>
          <a:p xmlns:a="http://schemas.openxmlformats.org/drawingml/2006/main">
            <a:r>
              <a:t>S10 [ESMC 6B SAE layer60 模型卡]: https://huggingface.co/biohub/ESMC-6B-sae-layer60-k64-codebook16384</a:t>
            </a:r>
          </a:p>
          <a:p xmlns:a="http://schemas.openxmlformats.org/drawingml/2006/main">
            <a:r>
              <a:t>S11 [ESMC SAE Features 数据集]: https://huggingface.co/datasets/biohub/ESMC-SAE-Features</a:t>
            </a:r>
          </a:p>
          <a:p xmlns:a="http://schemas.openxmlformats.org/drawingml/2006/main">
            <a:r>
              <a:t>S13 [RCSB PDB 1EMA]: https://www.rcsb.org/structure/1EMA</a:t>
            </a:r>
          </a:p>
          <a:p xmlns:a="http://schemas.openxmlformats.org/drawingml/2006/main">
            <a:r>
              <a:t>S14 [1EMA 原始 mmCIF 与 API 摘要]: E:\ESMC\ppt_handoff_20260906\sources\audit\1EMA.cif; E:\ESMC\ppt_handoff_20260906\sources\audit\1EMA.A.current-api.json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从端点转到内部 G24，可以用同一 join 检查特征和结构环境是否相容。F13094=4.6875，active_position_count=9；F9528=4.53125，active_position_count=13，官方描述涉及 β-strand-connecting loop 或 tight β-turn。它们是 f_24∈R^16384 的 64 个非零项中为讲解选择的代表条目。1EMA 审计把 G24 放在 polymer label 23–24 的未分配二级结构区，紧邻 25–36 sheet。描述与该相邻关系相容，GFP 特异功能因果仍待实验或专门对照。s_24 仍只由 m、n 给出。下一页并列两个高排名的 β 结构上下文。来源：S03、S04、S10、S11、S13、S14、S15。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S03 [本次候选评分表]: E:\ESMC\runs\run_20260905T135554Z_smoke_gfp\candidate_sites_all.csv; E:\ESMC\runs\run_20260905T135554Z_smoke_gfp\top_candidate_sites.csv</a:t>
            </a:r>
          </a:p>
          <a:p xmlns:a="http://schemas.openxmlformats.org/drawingml/2006/main">
            <a:r>
              <a:t>S04 [本次 SAE 激活与摘要]: E:\ESMC\runs\run_20260905T135554Z_smoke_gfp\sae_residue_activations.csv; E:\ESMC\runs\run_20260905T135554Z_smoke_gfp\sae_feature_summary.csv</a:t>
            </a:r>
          </a:p>
          <a:p xmlns:a="http://schemas.openxmlformats.org/drawingml/2006/main">
            <a:r>
              <a:t>S10 [ESMC 6B SAE layer60 模型卡]: https://huggingface.co/biohub/ESMC-6B-sae-layer60-k64-codebook16384</a:t>
            </a:r>
          </a:p>
          <a:p xmlns:a="http://schemas.openxmlformats.org/drawingml/2006/main">
            <a:r>
              <a:t>S11 [ESMC SAE Features 数据集]: https://huggingface.co/datasets/biohub/ESMC-SAE-Features</a:t>
            </a:r>
          </a:p>
          <a:p xmlns:a="http://schemas.openxmlformats.org/drawingml/2006/main">
            <a:r>
              <a:t>S13 [RCSB PDB 1EMA]: https://www.rcsb.org/structure/1EMA</a:t>
            </a:r>
          </a:p>
          <a:p xmlns:a="http://schemas.openxmlformats.org/drawingml/2006/main">
            <a:r>
              <a:t>S14 [1EMA 原始 mmCIF 与 API 摘要]: E:\ESMC\ppt_handoff_20260906\sources\audit\1EMA.cif; E:\ESMC\ppt_handoff_20260906\sources\audit\1EMA.A.current-api.json</a:t>
            </a:r>
          </a:p>
          <a:p xmlns:a="http://schemas.openxmlformats.org/drawingml/2006/main">
            <a:r>
              <a:t>S15 [独立证据审计报告]: E:\ESMC\ppt_handoff_20260906\EVIDENCE_AUDIT.md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同一审阅方式可检验两个邻近高排名候选。G40 的代表条目 F6141=5.15625，描述强调 loop-to-β 或 edge-strand 过渡；K45 的 F3904=3.234375，描述强调 β-strand。它们来自 f_40、f_45∈R^16384 的 64 个非零位置，跨 ID 数值未归一化。1EMA 审计中 G40 位于 polymer label 37–40 的未分配二级结构区，K45 位于 41–48 sheet 区，二者与通用结构语义相容。当前排名来自 s_40、s_45 的 m+n 组合，SAE 没有加权进入排序。下一页处理这类结构解释最关键的编号转换。来源：S03、S04、S10、S11、S13、S14、S15。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S03 [本次候选评分表]: E:\ESMC\runs\run_20260905T135554Z_smoke_gfp\candidate_sites_all.csv; E:\ESMC\runs\run_20260905T135554Z_smoke_gfp\top_candidate_sites.csv</a:t>
            </a:r>
          </a:p>
          <a:p xmlns:a="http://schemas.openxmlformats.org/drawingml/2006/main">
            <a:r>
              <a:t>S04 [本次 SAE 激活与摘要]: E:\ESMC\runs\run_20260905T135554Z_smoke_gfp\sae_residue_activations.csv; E:\ESMC\runs\run_20260905T135554Z_smoke_gfp\sae_feature_summary.csv</a:t>
            </a:r>
          </a:p>
          <a:p xmlns:a="http://schemas.openxmlformats.org/drawingml/2006/main">
            <a:r>
              <a:t>S10 [ESMC 6B SAE layer60 模型卡]: https://huggingface.co/biohub/ESMC-6B-sae-layer60-k64-codebook16384</a:t>
            </a:r>
          </a:p>
          <a:p xmlns:a="http://schemas.openxmlformats.org/drawingml/2006/main">
            <a:r>
              <a:t>S11 [ESMC SAE Features 数据集]: https://huggingface.co/datasets/biohub/ESMC-SAE-Features</a:t>
            </a:r>
          </a:p>
          <a:p xmlns:a="http://schemas.openxmlformats.org/drawingml/2006/main">
            <a:r>
              <a:t>S13 [RCSB PDB 1EMA]: https://www.rcsb.org/structure/1EMA</a:t>
            </a:r>
          </a:p>
          <a:p xmlns:a="http://schemas.openxmlformats.org/drawingml/2006/main">
            <a:r>
              <a:t>S14 [1EMA 原始 mmCIF 与 API 摘要]: E:\ESMC\ppt_handoff_20260906\sources\audit\1EMA.cif; E:\ESMC\ppt_handoff_20260906\sources\audit\1EMA.A.current-api.json</a:t>
            </a:r>
          </a:p>
          <a:p xmlns:a="http://schemas.openxmlformats.org/drawingml/2006/main">
            <a:r>
              <a:t>S15 [独立证据审计报告]: E:\ESMC\ppt_handoff_20260906\EVIDENCE_AUDIT.md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结构表的编号需要先与 FASTA 对齐。1EMA 链 A 是 S65T、Q80R 变体；其 CRO 在 label_seq_id 65、auth_seq_id 66 聚合 P42212 输入的 65–67 位。输入位置大于等于 68 时，审计映射为 label=input−2、author=input。例子是 G91 对应 label89、author91，G174 对应 label172、author174。直接把 label 当作 FASTA 编号会使后段位置偏移两位，因此表中同时读 input position、label_seq_id、author residue 与审计后的结构 context。CRO 合并给出该平移的结构原因。下一页据此限制泛化 feature 描述的解释。来源：S12、S13、S14、S15。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S12 [UniProt GFP_AEQVI / P42212]: https://www.uniprot.org/uniprotkb/P42212</a:t>
            </a:r>
          </a:p>
          <a:p xmlns:a="http://schemas.openxmlformats.org/drawingml/2006/main">
            <a:r>
              <a:t>S13 [RCSB PDB 1EMA]: https://www.rcsb.org/structure/1EMA</a:t>
            </a:r>
          </a:p>
          <a:p xmlns:a="http://schemas.openxmlformats.org/drawingml/2006/main">
            <a:r>
              <a:t>S14 [1EMA 原始 mmCIF 与 API 摘要]: E:\ESMC\ppt_handoff_20260906\sources\audit\1EMA.cif; E:\ESMC\ppt_handoff_20260906\sources\audit\1EMA.A.current-api.json</a:t>
            </a:r>
          </a:p>
          <a:p xmlns:a="http://schemas.openxmlformats.org/drawingml/2006/main">
            <a:r>
              <a:t>S15 [独立证据审计报告]: E:\ESMC\ppt_handoff_20260906\EVIDENCE_AUDIT.md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编号校正后，可以更谨慎地读高激活的自然语言标签。S65 的 F627、Y66 的 F6579、G67 的 F9237 分别是泛 serine、tyrosine、glycine 识别类描述，说明真实发色团位置也可能只得到身份级解释；L195 的 F16243 和 F5474 涉及 helix 或 disorder 语义，需要与结构参照分开审阅。例子中“未分配二级结构”只描述该参考模型的分类，动态无序仍需要专门证据。feature 描述来自 agent-generated 数据集，原始 activation 未归一化，表格只形成候选假设。当前 s_i 与这些标签独立计算。下一页把直接观测、外部确认和待校准项分层。来源：S03、S04、S10、S11、S12、S13、S14、S15。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S03 [本次候选评分表]: E:\ESMC\runs\run_20260905T135554Z_smoke_gfp\candidate_sites_all.csv; E:\ESMC\runs\run_20260905T135554Z_smoke_gfp\top_candidate_sites.csv</a:t>
            </a:r>
          </a:p>
          <a:p xmlns:a="http://schemas.openxmlformats.org/drawingml/2006/main">
            <a:r>
              <a:t>S04 [本次 SAE 激活与摘要]: E:\ESMC\runs\run_20260905T135554Z_smoke_gfp\sae_residue_activations.csv; E:\ESMC\runs\run_20260905T135554Z_smoke_gfp\sae_feature_summary.csv</a:t>
            </a:r>
          </a:p>
          <a:p xmlns:a="http://schemas.openxmlformats.org/drawingml/2006/main">
            <a:r>
              <a:t>S10 [ESMC 6B SAE layer60 模型卡]: https://huggingface.co/biohub/ESMC-6B-sae-layer60-k64-codebook16384</a:t>
            </a:r>
          </a:p>
          <a:p xmlns:a="http://schemas.openxmlformats.org/drawingml/2006/main">
            <a:r>
              <a:t>S11 [ESMC SAE Features 数据集]: https://huggingface.co/datasets/biohub/ESMC-SAE-Features</a:t>
            </a:r>
          </a:p>
          <a:p xmlns:a="http://schemas.openxmlformats.org/drawingml/2006/main">
            <a:r>
              <a:t>S12 [UniProt GFP_AEQVI / P42212]: https://www.uniprot.org/uniprotkb/P42212</a:t>
            </a:r>
          </a:p>
          <a:p xmlns:a="http://schemas.openxmlformats.org/drawingml/2006/main">
            <a:r>
              <a:t>S13 [RCSB PDB 1EMA]: https://www.rcsb.org/structure/1EMA</a:t>
            </a:r>
          </a:p>
          <a:p xmlns:a="http://schemas.openxmlformats.org/drawingml/2006/main">
            <a:r>
              <a:t>S14 [1EMA 原始 mmCIF 与 API 摘要]: E:\ESMC\ppt_handoff_20260906\sources\audit\1EMA.cif; E:\ESMC\ppt_handoff_20260906\sources\audit\1EMA.A.current-api.json</a:t>
            </a:r>
          </a:p>
          <a:p xmlns:a="http://schemas.openxmlformats.org/drawingml/2006/main">
            <a:r>
              <a:t>S15 [独立证据审计报告]: E:\ESMC\ppt_handoff_20260906\EVIDENCE_AUDIT.md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这页把证据按强度分开。直接观测包括 238 行评分、H∈R^(238×2560)、15,232 条 activation 和 rank；外部确认包括 P42212 序列身份、SYG 发色团与审计后的 1EMA 编号。例子是 G24 的 rank 2 属于直接观测，feature 描述与相邻 sheet 的关系属于结构假设。当前工件支持该实现、该输入下的观察性对照；旧 checkpoint 已通过 key/shape 检查，官方输出数值等价、跨实现 MLM 数值、SDPA 与其他 kernel、窗口权重、多蛋白和功能参照仍待完成。排名由 m、n 计算，SAE 用于事后解释。下一页用版本 manifest 支持复查。来源：S01、S03、S04、S05、S10、S12、S13、S14、S15、S16。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S01 [本次运行元数据]: E:\ESMC\runs\run_20260905T135554Z_smoke_gfp\run_metadata.json</a:t>
            </a:r>
          </a:p>
          <a:p xmlns:a="http://schemas.openxmlformats.org/drawingml/2006/main">
            <a:r>
              <a:t>S03 [本次候选评分表]: E:\ESMC\runs\run_20260905T135554Z_smoke_gfp\candidate_sites_all.csv; E:\ESMC\runs\run_20260905T135554Z_smoke_gfp\top_candidate_sites.csv</a:t>
            </a:r>
          </a:p>
          <a:p xmlns:a="http://schemas.openxmlformats.org/drawingml/2006/main">
            <a:r>
              <a:t>S04 [本次 SAE 激活与摘要]: E:\ESMC\runs\run_20260905T135554Z_smoke_gfp\sae_residue_activations.csv; E:\ESMC\runs\run_20260905T135554Z_smoke_gfp\sae_feature_summary.csv</a:t>
            </a:r>
          </a:p>
          <a:p xmlns:a="http://schemas.openxmlformats.org/drawingml/2006/main">
            <a:r>
              <a:t>S05 [本地运行实现]: E:\ESMC\esmc_feature_site_pipeline\run_esmc_site_pipeline.py</a:t>
            </a:r>
          </a:p>
          <a:p xmlns:a="http://schemas.openxmlformats.org/drawingml/2006/main">
            <a:r>
              <a:t>S10 [ESMC 6B SAE layer60 模型卡]: https://huggingface.co/biohub/ESMC-6B-sae-layer60-k64-codebook16384</a:t>
            </a:r>
          </a:p>
          <a:p xmlns:a="http://schemas.openxmlformats.org/drawingml/2006/main">
            <a:r>
              <a:t>S12 [UniProt GFP_AEQVI / P42212]: https://www.uniprot.org/uniprotkb/P42212</a:t>
            </a:r>
          </a:p>
          <a:p xmlns:a="http://schemas.openxmlformats.org/drawingml/2006/main">
            <a:r>
              <a:t>S13 [RCSB PDB 1EMA]: https://www.rcsb.org/structure/1EMA</a:t>
            </a:r>
          </a:p>
          <a:p xmlns:a="http://schemas.openxmlformats.org/drawingml/2006/main">
            <a:r>
              <a:t>S14 [1EMA 原始 mmCIF 与 API 摘要]: E:\ESMC\ppt_handoff_20260906\sources\audit\1EMA.cif; E:\ESMC\ppt_handoff_20260906\sources\audit\1EMA.A.current-api.json</a:t>
            </a:r>
          </a:p>
          <a:p xmlns:a="http://schemas.openxmlformats.org/drawingml/2006/main">
            <a:r>
              <a:t>S15 [独立证据审计报告]: E:\ESMC\ppt_handoff_20260906\EVIDENCE_AUDIT.md</a:t>
            </a:r>
          </a:p>
          <a:p xmlns:a="http://schemas.openxmlformats.org/drawingml/2006/main">
            <a:r>
              <a:t>S16 [兼容性与边界审计]: E:\ESMC\ppt_handoff_20260906\evidence.json (compatibility_observations; compatibility_and_scientific_boundaries; mask_id_audit)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证据分层之后，复查依赖可复现的版本坐标。此次运行记录 dense checkpoint ffd268e4、SAE 99752fe6、Python 3.12.10、Torch 2.11.0+cu128、BF16、masked batch=1、window=5、权重 0.7/0.3，以及 B=1、T=240、H=238×2560。例子是 `run_esmc_site_pipeline.py --smoke-test --sae` 读取 GFP FASTA 后创建带时间戳的新目录，并输出 NPZ、CSV 与报告。版本名称只描述 2026-09-05 这次运行，后续重跑应重新记录 revision 与环境。下一页将这些产物转成下一轮验证的优先级。来源：S01、S02、S03、S04、S05。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S01 [本次运行元数据]: E:\ESMC\runs\run_20260905T135554Z_smoke_gfp\run_metadata.json</a:t>
            </a:r>
          </a:p>
          <a:p xmlns:a="http://schemas.openxmlformats.org/drawingml/2006/main">
            <a:r>
              <a:t>S02 [输入序列与导出表示]: E:\ESMC\runs\run_20260905T135554Z_smoke_gfp\input_sequence.fasta; E:\ESMC\runs\run_20260905T135554Z_smoke_gfp\residue_embeddings.npz</a:t>
            </a:r>
          </a:p>
          <a:p xmlns:a="http://schemas.openxmlformats.org/drawingml/2006/main">
            <a:r>
              <a:t>S03 [本次候选评分表]: E:\ESMC\runs\run_20260905T135554Z_smoke_gfp\candidate_sites_all.csv; E:\ESMC\runs\run_20260905T135554Z_smoke_gfp\top_candidate_sites.csv</a:t>
            </a:r>
          </a:p>
          <a:p xmlns:a="http://schemas.openxmlformats.org/drawingml/2006/main">
            <a:r>
              <a:t>S04 [本次 SAE 激活与摘要]: E:\ESMC\runs\run_20260905T135554Z_smoke_gfp\sae_residue_activations.csv; E:\ESMC\runs\run_20260905T135554Z_smoke_gfp\sae_feature_summary.csv</a:t>
            </a:r>
          </a:p>
          <a:p xmlns:a="http://schemas.openxmlformats.org/drawingml/2006/main">
            <a:r>
              <a:t>S05 [本地运行实现]: E:\ESMC\esmc_feature_site_pipeline\run_esmc_site_pipeline.py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最后把全链路收束为可执行的结论。第一，单卡冻结前向已把 238 aa 输入转换为 H、238 位 ranking 和 15,232 条 SAE 激活；第二，SAE 的 16384 维稀疏码提供可检验的 feature 描述；第三，SYG 在当前 s∈R^238 的后段，限定了这套双信号排序的当前用途。例子是下一轮可用官方匹配推理比较同一 h_i、m_i、n_i，再扩展到多个已知功能蛋白、经审计的结构编号和 DMS 或实验参照。所有未来比较应继续区分直接数值、外部证据和机制假设；微调需另立实验设计。来源：S01、S03、S04、S07、S09、S10、S11、S12、S13、S14、S15。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S01 [本次运行元数据]: E:\ESMC\runs\run_20260905T135554Z_smoke_gfp\run_metadata.json</a:t>
            </a:r>
          </a:p>
          <a:p xmlns:a="http://schemas.openxmlformats.org/drawingml/2006/main">
            <a:r>
              <a:t>S03 [本次候选评分表]: E:\ESMC\runs\run_20260905T135554Z_smoke_gfp\candidate_sites_all.csv; E:\ESMC\runs\run_20260905T135554Z_smoke_gfp\top_candidate_sites.csv</a:t>
            </a:r>
          </a:p>
          <a:p xmlns:a="http://schemas.openxmlformats.org/drawingml/2006/main">
            <a:r>
              <a:t>S04 [本次 SAE 激活与摘要]: E:\ESMC\runs\run_20260905T135554Z_smoke_gfp\sae_residue_activations.csv; E:\ESMC\runs\run_20260905T135554Z_smoke_gfp\sae_feature_summary.csv</a:t>
            </a:r>
          </a:p>
          <a:p xmlns:a="http://schemas.openxmlformats.org/drawingml/2006/main">
            <a:r>
              <a:t>S07 [Biohub/esm 官方仓库]: https://github.com/Biohub/esm</a:t>
            </a:r>
          </a:p>
          <a:p xmlns:a="http://schemas.openxmlformats.org/drawingml/2006/main">
            <a:r>
              <a:t>S09 [当前 ESMC 6B 模型卡]: https://huggingface.co/biohub/ESMC-6B</a:t>
            </a:r>
          </a:p>
          <a:p xmlns:a="http://schemas.openxmlformats.org/drawingml/2006/main">
            <a:r>
              <a:t>S10 [ESMC 6B SAE layer60 模型卡]: https://huggingface.co/biohub/ESMC-6B-sae-layer60-k64-codebook16384</a:t>
            </a:r>
          </a:p>
          <a:p xmlns:a="http://schemas.openxmlformats.org/drawingml/2006/main">
            <a:r>
              <a:t>S11 [ESMC SAE Features 数据集]: https://huggingface.co/datasets/biohub/ESMC-SAE-Features</a:t>
            </a:r>
          </a:p>
          <a:p xmlns:a="http://schemas.openxmlformats.org/drawingml/2006/main">
            <a:r>
              <a:t>S12 [UniProt GFP_AEQVI / P42212]: https://www.uniprot.org/uniprotkb/P42212</a:t>
            </a:r>
          </a:p>
          <a:p xmlns:a="http://schemas.openxmlformats.org/drawingml/2006/main">
            <a:r>
              <a:t>S13 [RCSB PDB 1EMA]: https://www.rcsb.org/structure/1EMA</a:t>
            </a:r>
          </a:p>
          <a:p xmlns:a="http://schemas.openxmlformats.org/drawingml/2006/main">
            <a:r>
              <a:t>S14 [1EMA 原始 mmCIF 与 API 摘要]: E:\ESMC\ppt_handoff_20260906\sources\audit\1EMA.cif; E:\ESMC\ppt_handoff_20260906\sources\audit\1EMA.A.current-api.json</a:t>
            </a:r>
          </a:p>
          <a:p xmlns:a="http://schemas.openxmlformats.org/drawingml/2006/main">
            <a:r>
              <a:t>S15 [独立证据审计报告]: E:\ESMC\ppt_handoff_20260906\EVIDENCE_AUDIT.md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7b3ad97da740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7d95cab3954cee" /><Relationship Type="http://schemas.openxmlformats.org/officeDocument/2006/relationships/slideLayout" Target="/ppt/slideLayouts/slideLayout1.xml" Id="R52c56eca973e4f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c56eca973e4f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8ff2ac8a94657" /><Relationship Type="http://schemas.openxmlformats.org/officeDocument/2006/relationships/notesSlide" Target="/ppt/notesSlides/notesSlide1.xml" Id="R3260655830ff4d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cb704a18e4177" /><Relationship Type="http://schemas.openxmlformats.org/officeDocument/2006/relationships/notesSlide" Target="/ppt/notesSlides/notesSlide2.xml" Id="R03770877800f4c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f6269c6cf4404" /><Relationship Type="http://schemas.openxmlformats.org/officeDocument/2006/relationships/notesSlide" Target="/ppt/notesSlides/notesSlide3.xml" Id="R2886ee8736ad4e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2dac1dbd64238" /><Relationship Type="http://schemas.openxmlformats.org/officeDocument/2006/relationships/notesSlide" Target="/ppt/notesSlides/notesSlide4.xml" Id="Rf237aa2bf5de47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a6af4c29b46a9" /><Relationship Type="http://schemas.openxmlformats.org/officeDocument/2006/relationships/notesSlide" Target="/ppt/notesSlides/notesSlide5.xml" Id="Rfb5f76cbbbec4b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894c5ef394123" /><Relationship Type="http://schemas.openxmlformats.org/officeDocument/2006/relationships/notesSlide" Target="/ppt/notesSlides/notesSlide6.xml" Id="R0e17f72c723f40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3e66280c744b5" /><Relationship Type="http://schemas.openxmlformats.org/officeDocument/2006/relationships/notesSlide" Target="/ppt/notesSlides/notesSlide7.xml" Id="Re43d517b1d914f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34af9be004800" /><Relationship Type="http://schemas.openxmlformats.org/officeDocument/2006/relationships/notesSlide" Target="/ppt/notesSlides/notesSlide8.xml" Id="R73ca1fad3d6441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a177322614546" /><Relationship Type="http://schemas.openxmlformats.org/officeDocument/2006/relationships/notesSlide" Target="/ppt/notesSlides/notesSlide9.xml" Id="R5b657b0ae94345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a3aed8ead4c11" /><Relationship Type="http://schemas.openxmlformats.org/officeDocument/2006/relationships/notesSlide" Target="/ppt/notesSlides/notesSlide10.xml" Id="R635ccc973f0547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aa0ededbb44ea" /><Relationship Type="http://schemas.openxmlformats.org/officeDocument/2006/relationships/notesSlide" Target="/ppt/notesSlides/notesSlide11.xml" Id="R1bbc5bbccec448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7d544124a4505" /><Relationship Type="http://schemas.openxmlformats.org/officeDocument/2006/relationships/notesSlide" Target="/ppt/notesSlides/notesSlide12.xml" Id="R96a65455e3ad44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7f328487541d5" /><Relationship Type="http://schemas.openxmlformats.org/officeDocument/2006/relationships/notesSlide" Target="/ppt/notesSlides/notesSlide13.xml" Id="R78ccb280f0d44e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1bcb43ab2431d" /><Relationship Type="http://schemas.openxmlformats.org/officeDocument/2006/relationships/notesSlide" Target="/ppt/notesSlides/notesSlide14.xml" Id="Rf8cc611846374d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85c575bac407a" /><Relationship Type="http://schemas.openxmlformats.org/officeDocument/2006/relationships/notesSlide" Target="/ppt/notesSlides/notesSlide15.xml" Id="Ra6fe78cf586b4c7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a907a1a984d31" /><Relationship Type="http://schemas.openxmlformats.org/officeDocument/2006/relationships/notesSlide" Target="/ppt/notesSlides/notesSlide16.xml" Id="Rc5c0ec22e8a14d2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447efa50e4e03" /><Relationship Type="http://schemas.openxmlformats.org/officeDocument/2006/relationships/notesSlide" Target="/ppt/notesSlides/notesSlide17.xml" Id="R8571b088f4e1476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33f64fb3c4a10" /><Relationship Type="http://schemas.openxmlformats.org/officeDocument/2006/relationships/notesSlide" Target="/ppt/notesSlides/notesSlide18.xml" Id="R3761f06c8a5c4bf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60c03e15940b0" /><Relationship Type="http://schemas.openxmlformats.org/officeDocument/2006/relationships/notesSlide" Target="/ppt/notesSlides/notesSlide19.xml" Id="R6a4ef4a69f3f404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4505e75394639" /><Relationship Type="http://schemas.openxmlformats.org/officeDocument/2006/relationships/chart" Target="/ppt/slides/charts/chart1.xml" Id="Rf7c91113e08a4b3f" /><Relationship Type="http://schemas.openxmlformats.org/officeDocument/2006/relationships/notesSlide" Target="/ppt/notesSlides/notesSlide20.xml" Id="R9c3bed792e8349c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4623c3b0d441e" /><Relationship Type="http://schemas.openxmlformats.org/officeDocument/2006/relationships/notesSlide" Target="/ppt/notesSlides/notesSlide21.xml" Id="Rdc1f8f7cf7d94df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759622dba4e28" /><Relationship Type="http://schemas.openxmlformats.org/officeDocument/2006/relationships/chart" Target="/ppt/slides/charts/chart2.xml" Id="R9ff2a77602b24b71" /><Relationship Type="http://schemas.openxmlformats.org/officeDocument/2006/relationships/notesSlide" Target="/ppt/notesSlides/notesSlide22.xml" Id="Rc32182d4b6db41a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eb8675b844dc5" /><Relationship Type="http://schemas.openxmlformats.org/officeDocument/2006/relationships/chart" Target="/ppt/slides/charts/chart3.xml" Id="Rf669608252084f78" /><Relationship Type="http://schemas.openxmlformats.org/officeDocument/2006/relationships/notesSlide" Target="/ppt/notesSlides/notesSlide23.xml" Id="R73618ce6e315404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c94d041a54e4e" /><Relationship Type="http://schemas.openxmlformats.org/officeDocument/2006/relationships/notesSlide" Target="/ppt/notesSlides/notesSlide24.xml" Id="R2909f0ddd77b4df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ad261cce54324" /><Relationship Type="http://schemas.openxmlformats.org/officeDocument/2006/relationships/notesSlide" Target="/ppt/notesSlides/notesSlide25.xml" Id="Rfea217d98cf14ff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9bf5ee2f64cfa" /><Relationship Type="http://schemas.openxmlformats.org/officeDocument/2006/relationships/notesSlide" Target="/ppt/notesSlides/notesSlide26.xml" Id="R11fd21d962994d8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8a86ab6fe44f9" /><Relationship Type="http://schemas.openxmlformats.org/officeDocument/2006/relationships/notesSlide" Target="/ppt/notesSlides/notesSlide27.xml" Id="Rd1776317c93b405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dfda0e5a44802" /><Relationship Type="http://schemas.openxmlformats.org/officeDocument/2006/relationships/notesSlide" Target="/ppt/notesSlides/notesSlide28.xml" Id="R2d5de7d965fc428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281ef54db4b1f" /><Relationship Type="http://schemas.openxmlformats.org/officeDocument/2006/relationships/notesSlide" Target="/ppt/notesSlides/notesSlide29.xml" Id="Rab5d60a4ca9f4f4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155ef737c467d" /><Relationship Type="http://schemas.openxmlformats.org/officeDocument/2006/relationships/notesSlide" Target="/ppt/notesSlides/notesSlide30.xml" Id="R1c0ef548f34a421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4773237784a5d" /><Relationship Type="http://schemas.openxmlformats.org/officeDocument/2006/relationships/notesSlide" Target="/ppt/notesSlides/notesSlide31.xml" Id="Re3915c3c8f4542e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d8ad60f6445cc" /><Relationship Type="http://schemas.openxmlformats.org/officeDocument/2006/relationships/notesSlide" Target="/ppt/notesSlides/notesSlide32.xml" Id="R499d81d70dca410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507ca0a1a48e6" /><Relationship Type="http://schemas.openxmlformats.org/officeDocument/2006/relationships/notesSlide" Target="/ppt/notesSlides/notesSlide33.xml" Id="Rddbd281ddc774b8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934fad7944f72" /><Relationship Type="http://schemas.openxmlformats.org/officeDocument/2006/relationships/notesSlide" Target="/ppt/notesSlides/notesSlide34.xml" Id="R9c137396f71e48d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综合分数 s</c:v>
          </c:tx>
          <c:spPr>
            <a:ln xmlns:a="http://schemas.openxmlformats.org/drawingml/2006/main" w="19050">
              <a:solidFill>
                <a:srgbClr val="1456A0"/>
              </a:solidFill>
              <a:prstDash val="solid"/>
            </a:ln>
          </c:spPr>
          <c:marker>
            <c:symbol val="none"/>
            <c:size val="2"/>
          </c:marker>
          <c:cat>
            <c:numRef>
              <c:f>'Chart Data'!$A$2:$A$239</c:f>
              <c:numCache>
                <c:formatCode>General</c:formatCode>
                <c:ptCount val="23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</c:numCache>
            </c:numRef>
          </c:cat>
          <c:val>
            <c:numRef>
              <c:f>'Chart Data'!$B$2:$B$239</c:f>
              <c:numCache>
                <c:formatCode>General</c:formatCode>
                <c:ptCount val="238"/>
                <c:pt idx="0">
                  <c:v>10.985226822041</c:v>
                </c:pt>
                <c:pt idx="1">
                  <c:v>0.530614862482</c:v>
                </c:pt>
                <c:pt idx="2">
                  <c:v>0.227008226116</c:v>
                </c:pt>
                <c:pt idx="3">
                  <c:v>-0.109980429776</c:v>
                </c:pt>
                <c:pt idx="4">
                  <c:v>-0.243028718069</c:v>
                </c:pt>
                <c:pt idx="5">
                  <c:v>-0.100131209512</c:v>
                </c:pt>
                <c:pt idx="6">
                  <c:v>-0.047116745305</c:v>
                </c:pt>
                <c:pt idx="7">
                  <c:v>0.134241163235</c:v>
                </c:pt>
                <c:pt idx="8">
                  <c:v>0.187769075134</c:v>
                </c:pt>
                <c:pt idx="9">
                  <c:v>0.222806930471</c:v>
                </c:pt>
                <c:pt idx="10">
                  <c:v>0.091987321944</c:v>
                </c:pt>
                <c:pt idx="11">
                  <c:v>-0.103409223252</c:v>
                </c:pt>
                <c:pt idx="12">
                  <c:v>0.734521439845</c:v>
                </c:pt>
                <c:pt idx="13">
                  <c:v>0.378777556437</c:v>
                </c:pt>
                <c:pt idx="14">
                  <c:v>0.301862696099</c:v>
                </c:pt>
                <c:pt idx="15">
                  <c:v>0.103376885287</c:v>
                </c:pt>
                <c:pt idx="16">
                  <c:v>0.406357881019</c:v>
                </c:pt>
                <c:pt idx="17">
                  <c:v>0.326540523313</c:v>
                </c:pt>
                <c:pt idx="18">
                  <c:v>0.422843643697</c:v>
                </c:pt>
                <c:pt idx="19">
                  <c:v>2.323075404244</c:v>
                </c:pt>
                <c:pt idx="20">
                  <c:v>0.813711969355</c:v>
                </c:pt>
                <c:pt idx="21">
                  <c:v>0.150475481734</c:v>
                </c:pt>
                <c:pt idx="22">
                  <c:v>0.26256612873</c:v>
                </c:pt>
                <c:pt idx="23">
                  <c:v>3.422572687757</c:v>
                </c:pt>
                <c:pt idx="24">
                  <c:v>0.617054903474</c:v>
                </c:pt>
                <c:pt idx="25">
                  <c:v>2.481676502072</c:v>
                </c:pt>
                <c:pt idx="26">
                  <c:v>1.016612242399</c:v>
                </c:pt>
                <c:pt idx="27">
                  <c:v>0.687986580288</c:v>
                </c:pt>
                <c:pt idx="28">
                  <c:v>0.92912880706</c:v>
                </c:pt>
                <c:pt idx="29">
                  <c:v>0.679733139614</c:v>
                </c:pt>
                <c:pt idx="30">
                  <c:v>1.207745455854</c:v>
                </c:pt>
                <c:pt idx="31">
                  <c:v>0.453968605242</c:v>
                </c:pt>
                <c:pt idx="32">
                  <c:v>0.861817002475</c:v>
                </c:pt>
                <c:pt idx="33">
                  <c:v>0.315424842737</c:v>
                </c:pt>
                <c:pt idx="34">
                  <c:v>0.156899517518</c:v>
                </c:pt>
                <c:pt idx="35">
                  <c:v>0.2802312372</c:v>
                </c:pt>
                <c:pt idx="36">
                  <c:v>-0.004563942826</c:v>
                </c:pt>
                <c:pt idx="37">
                  <c:v>0.173863090131</c:v>
                </c:pt>
                <c:pt idx="38">
                  <c:v>0.938541794773</c:v>
                </c:pt>
                <c:pt idx="39">
                  <c:v>2.30841402221</c:v>
                </c:pt>
                <c:pt idx="40">
                  <c:v>1.051134932463</c:v>
                </c:pt>
                <c:pt idx="41">
                  <c:v>0.294836118227</c:v>
                </c:pt>
                <c:pt idx="42">
                  <c:v>0.611921086506</c:v>
                </c:pt>
                <c:pt idx="43">
                  <c:v>0.802856972377</c:v>
                </c:pt>
                <c:pt idx="44">
                  <c:v>1.647920068393</c:v>
                </c:pt>
                <c:pt idx="45">
                  <c:v>0.579777149077</c:v>
                </c:pt>
                <c:pt idx="46">
                  <c:v>0.410899715237</c:v>
                </c:pt>
                <c:pt idx="47">
                  <c:v>0.886171450036</c:v>
                </c:pt>
                <c:pt idx="48">
                  <c:v>0.483058254854</c:v>
                </c:pt>
                <c:pt idx="49">
                  <c:v>0.52745432135</c:v>
                </c:pt>
                <c:pt idx="50">
                  <c:v>0.232470702404</c:v>
                </c:pt>
                <c:pt idx="51">
                  <c:v>0.01569348253</c:v>
                </c:pt>
                <c:pt idx="52">
                  <c:v>0.081415447151</c:v>
                </c:pt>
                <c:pt idx="53">
                  <c:v>0.732319157212</c:v>
                </c:pt>
                <c:pt idx="54">
                  <c:v>-0.202637279592</c:v>
                </c:pt>
                <c:pt idx="55">
                  <c:v>0.439795337057</c:v>
                </c:pt>
                <c:pt idx="56">
                  <c:v>0.208885106464</c:v>
                </c:pt>
                <c:pt idx="57">
                  <c:v>-0.072798369358</c:v>
                </c:pt>
                <c:pt idx="58">
                  <c:v>-0.296933466257</c:v>
                </c:pt>
                <c:pt idx="59">
                  <c:v>-0.216062814826</c:v>
                </c:pt>
                <c:pt idx="60">
                  <c:v>-0.13435995576</c:v>
                </c:pt>
                <c:pt idx="61">
                  <c:v>-0.202057176094</c:v>
                </c:pt>
                <c:pt idx="62">
                  <c:v>-0.495260887036</c:v>
                </c:pt>
                <c:pt idx="63">
                  <c:v>-0.392216290841</c:v>
                </c:pt>
                <c:pt idx="64">
                  <c:v>-0.387661917413</c:v>
                </c:pt>
                <c:pt idx="65">
                  <c:v>-0.357206813719</c:v>
                </c:pt>
                <c:pt idx="66">
                  <c:v>-0.300503841601</c:v>
                </c:pt>
                <c:pt idx="67">
                  <c:v>-0.51018254813</c:v>
                </c:pt>
                <c:pt idx="68">
                  <c:v>-0.483082673317</c:v>
                </c:pt>
                <c:pt idx="69">
                  <c:v>-0.07760616684</c:v>
                </c:pt>
                <c:pt idx="70">
                  <c:v>-0.351254648243</c:v>
                </c:pt>
                <c:pt idx="71">
                  <c:v>-0.33365091591</c:v>
                </c:pt>
                <c:pt idx="72">
                  <c:v>0.052262441526</c:v>
                </c:pt>
                <c:pt idx="73">
                  <c:v>0.068839938431</c:v>
                </c:pt>
                <c:pt idx="74">
                  <c:v>0.070330784624</c:v>
                </c:pt>
                <c:pt idx="75">
                  <c:v>0.156919976231</c:v>
                </c:pt>
                <c:pt idx="76">
                  <c:v>0.062098462621</c:v>
                </c:pt>
                <c:pt idx="77">
                  <c:v>0.403985330306</c:v>
                </c:pt>
                <c:pt idx="78">
                  <c:v>0.15685992001</c:v>
                </c:pt>
                <c:pt idx="79">
                  <c:v>-0.013776303163</c:v>
                </c:pt>
                <c:pt idx="80">
                  <c:v>0.644240572889</c:v>
                </c:pt>
                <c:pt idx="81">
                  <c:v>0.246671688845</c:v>
                </c:pt>
                <c:pt idx="82">
                  <c:v>-0.014082523895</c:v>
                </c:pt>
                <c:pt idx="83">
                  <c:v>0.362341950604</c:v>
                </c:pt>
                <c:pt idx="84">
                  <c:v>0.341251525301</c:v>
                </c:pt>
                <c:pt idx="85">
                  <c:v>-0.141195805632</c:v>
                </c:pt>
                <c:pt idx="86">
                  <c:v>-0.001049663953</c:v>
                </c:pt>
                <c:pt idx="87">
                  <c:v>0.297193489896</c:v>
                </c:pt>
                <c:pt idx="88">
                  <c:v>0.223273521112</c:v>
                </c:pt>
                <c:pt idx="89">
                  <c:v>0.095241577179</c:v>
                </c:pt>
                <c:pt idx="90">
                  <c:v>1.882540584622</c:v>
                </c:pt>
                <c:pt idx="91">
                  <c:v>0.205834778398</c:v>
                </c:pt>
                <c:pt idx="92">
                  <c:v>-0.122472783728</c:v>
                </c:pt>
                <c:pt idx="93">
                  <c:v>0.126295923168</c:v>
                </c:pt>
                <c:pt idx="94">
                  <c:v>-0.200758377817</c:v>
                </c:pt>
                <c:pt idx="95">
                  <c:v>0.111642205213</c:v>
                </c:pt>
                <c:pt idx="96">
                  <c:v>-0.273832279838</c:v>
                </c:pt>
                <c:pt idx="97">
                  <c:v>-0.046277278126</c:v>
                </c:pt>
                <c:pt idx="98">
                  <c:v>-0.070452876942</c:v>
                </c:pt>
                <c:pt idx="99">
                  <c:v>-0.203371153415</c:v>
                </c:pt>
                <c:pt idx="100">
                  <c:v>-0.137814838371</c:v>
                </c:pt>
                <c:pt idx="101">
                  <c:v>-0.040445885051</c:v>
                </c:pt>
                <c:pt idx="102">
                  <c:v>0.165178036615</c:v>
                </c:pt>
                <c:pt idx="103">
                  <c:v>0.099384796478</c:v>
                </c:pt>
                <c:pt idx="104">
                  <c:v>0.004292039935</c:v>
                </c:pt>
                <c:pt idx="105">
                  <c:v>-0.232069447652</c:v>
                </c:pt>
                <c:pt idx="106">
                  <c:v>0.277737780828</c:v>
                </c:pt>
                <c:pt idx="107">
                  <c:v>-0.080508664208</c:v>
                </c:pt>
                <c:pt idx="108">
                  <c:v>-0.100298838964</c:v>
                </c:pt>
                <c:pt idx="109">
                  <c:v>0.025788867305</c:v>
                </c:pt>
                <c:pt idx="110">
                  <c:v>0.266265855332</c:v>
                </c:pt>
                <c:pt idx="111">
                  <c:v>0.224687152163</c:v>
                </c:pt>
                <c:pt idx="112">
                  <c:v>1.143628111975</c:v>
                </c:pt>
                <c:pt idx="113">
                  <c:v>0.110782279322</c:v>
                </c:pt>
                <c:pt idx="114">
                  <c:v>0.154435892535</c:v>
                </c:pt>
                <c:pt idx="115">
                  <c:v>0.240474678775</c:v>
                </c:pt>
                <c:pt idx="116">
                  <c:v>0.045713013631</c:v>
                </c:pt>
                <c:pt idx="117">
                  <c:v>-0.121625397048</c:v>
                </c:pt>
                <c:pt idx="118">
                  <c:v>-0.108210421149</c:v>
                </c:pt>
                <c:pt idx="119">
                  <c:v>0.029266848462</c:v>
                </c:pt>
                <c:pt idx="120">
                  <c:v>0.349381026135</c:v>
                </c:pt>
                <c:pt idx="121">
                  <c:v>0.067749027074</c:v>
                </c:pt>
                <c:pt idx="122">
                  <c:v>-0.052926359751</c:v>
                </c:pt>
                <c:pt idx="123">
                  <c:v>1.058489641145</c:v>
                </c:pt>
                <c:pt idx="124">
                  <c:v>0.203050280942</c:v>
                </c:pt>
                <c:pt idx="125">
                  <c:v>0.252740665765</c:v>
                </c:pt>
                <c:pt idx="126">
                  <c:v>-0.214036082353</c:v>
                </c:pt>
                <c:pt idx="127">
                  <c:v>-0.15557564082</c:v>
                </c:pt>
                <c:pt idx="128">
                  <c:v>-0.225502200878</c:v>
                </c:pt>
                <c:pt idx="129">
                  <c:v>-0.10478523667</c:v>
                </c:pt>
                <c:pt idx="130">
                  <c:v>0.119398697157</c:v>
                </c:pt>
                <c:pt idx="131">
                  <c:v>-0.172368944146</c:v>
                </c:pt>
                <c:pt idx="132">
                  <c:v>0.989189513429</c:v>
                </c:pt>
                <c:pt idx="133">
                  <c:v>0.478524206579</c:v>
                </c:pt>
                <c:pt idx="134">
                  <c:v>0.247798897918</c:v>
                </c:pt>
                <c:pt idx="135">
                  <c:v>0.041634470263</c:v>
                </c:pt>
                <c:pt idx="136">
                  <c:v>0.046905558593</c:v>
                </c:pt>
                <c:pt idx="137">
                  <c:v>0.015250650394</c:v>
                </c:pt>
                <c:pt idx="138">
                  <c:v>-0.048374626156</c:v>
                </c:pt>
                <c:pt idx="139">
                  <c:v>0.151966062918</c:v>
                </c:pt>
                <c:pt idx="140">
                  <c:v>-0.185163559079</c:v>
                </c:pt>
                <c:pt idx="141">
                  <c:v>0.162882304284</c:v>
                </c:pt>
                <c:pt idx="142">
                  <c:v>-0.226575293357</c:v>
                </c:pt>
                <c:pt idx="143">
                  <c:v>-0.181404435612</c:v>
                </c:pt>
                <c:pt idx="144">
                  <c:v>-0.295217574225</c:v>
                </c:pt>
                <c:pt idx="145">
                  <c:v>-0.338788032671</c:v>
                </c:pt>
                <c:pt idx="146">
                  <c:v>-0.113299360941</c:v>
                </c:pt>
                <c:pt idx="147">
                  <c:v>-0.051111473947</c:v>
                </c:pt>
                <c:pt idx="148">
                  <c:v>-0.112144433612</c:v>
                </c:pt>
                <c:pt idx="149">
                  <c:v>-0.087788666133</c:v>
                </c:pt>
                <c:pt idx="150">
                  <c:v>-0.129838580255</c:v>
                </c:pt>
                <c:pt idx="151">
                  <c:v>0.153297464168</c:v>
                </c:pt>
                <c:pt idx="152">
                  <c:v>0.048236034877</c:v>
                </c:pt>
                <c:pt idx="153">
                  <c:v>0.046598677903</c:v>
                </c:pt>
                <c:pt idx="154">
                  <c:v>-0.065121072431</c:v>
                </c:pt>
                <c:pt idx="155">
                  <c:v>0.036475574872</c:v>
                </c:pt>
                <c:pt idx="156">
                  <c:v>0.662646154767</c:v>
                </c:pt>
                <c:pt idx="157">
                  <c:v>0.317360500941</c:v>
                </c:pt>
                <c:pt idx="158">
                  <c:v>0.257146549743</c:v>
                </c:pt>
                <c:pt idx="159">
                  <c:v>0.14651573089</c:v>
                </c:pt>
                <c:pt idx="160">
                  <c:v>-0.036138336092</c:v>
                </c:pt>
                <c:pt idx="161">
                  <c:v>0.178205748338</c:v>
                </c:pt>
                <c:pt idx="162">
                  <c:v>-0.01312030444</c:v>
                </c:pt>
                <c:pt idx="163">
                  <c:v>0.016583106552</c:v>
                </c:pt>
                <c:pt idx="164">
                  <c:v>-0.03370440924</c:v>
                </c:pt>
                <c:pt idx="165">
                  <c:v>-0.203024675216</c:v>
                </c:pt>
                <c:pt idx="166">
                  <c:v>0.072140390759</c:v>
                </c:pt>
                <c:pt idx="167">
                  <c:v>-0.019397829444</c:v>
                </c:pt>
                <c:pt idx="168">
                  <c:v>0.407707496098</c:v>
                </c:pt>
                <c:pt idx="169">
                  <c:v>0.484839482775</c:v>
                </c:pt>
                <c:pt idx="170">
                  <c:v>-0.02146217955</c:v>
                </c:pt>
                <c:pt idx="171">
                  <c:v>0.033679330818</c:v>
                </c:pt>
                <c:pt idx="172">
                  <c:v>1.417498340329</c:v>
                </c:pt>
                <c:pt idx="173">
                  <c:v>1.232123923312</c:v>
                </c:pt>
                <c:pt idx="174">
                  <c:v>0.390165799863</c:v>
                </c:pt>
                <c:pt idx="175">
                  <c:v>-0.042652126229</c:v>
                </c:pt>
                <c:pt idx="176">
                  <c:v>0.028911130845</c:v>
                </c:pt>
                <c:pt idx="177">
                  <c:v>-0.183767746907</c:v>
                </c:pt>
                <c:pt idx="178">
                  <c:v>0.063516053423</c:v>
                </c:pt>
                <c:pt idx="179">
                  <c:v>-0.167398136921</c:v>
                </c:pt>
                <c:pt idx="180">
                  <c:v>-0.155012036283</c:v>
                </c:pt>
                <c:pt idx="181">
                  <c:v>-0.301280612725</c:v>
                </c:pt>
                <c:pt idx="182">
                  <c:v>-0.472919972778</c:v>
                </c:pt>
                <c:pt idx="183">
                  <c:v>-0.462507807936</c:v>
                </c:pt>
                <c:pt idx="184">
                  <c:v>-0.411890972864</c:v>
                </c:pt>
                <c:pt idx="185">
                  <c:v>-0.391534553738</c:v>
                </c:pt>
                <c:pt idx="186">
                  <c:v>-0.303542290415</c:v>
                </c:pt>
                <c:pt idx="187">
                  <c:v>-0.220194154873</c:v>
                </c:pt>
                <c:pt idx="188">
                  <c:v>-0.219455661341</c:v>
                </c:pt>
                <c:pt idx="189">
                  <c:v>-0.258231521474</c:v>
                </c:pt>
                <c:pt idx="190">
                  <c:v>-0.20773677872</c:v>
                </c:pt>
                <c:pt idx="191">
                  <c:v>-0.063329945133</c:v>
                </c:pt>
                <c:pt idx="192">
                  <c:v>-0.256481971559</c:v>
                </c:pt>
                <c:pt idx="193">
                  <c:v>0.049945327324</c:v>
                </c:pt>
                <c:pt idx="194">
                  <c:v>1.40883928779</c:v>
                </c:pt>
                <c:pt idx="195">
                  <c:v>-0.135019914234</c:v>
                </c:pt>
                <c:pt idx="196">
                  <c:v>0.11163956538</c:v>
                </c:pt>
                <c:pt idx="197">
                  <c:v>0.205836758274</c:v>
                </c:pt>
                <c:pt idx="198">
                  <c:v>0.113095433773</c:v>
                </c:pt>
                <c:pt idx="199">
                  <c:v>-0.184753724867</c:v>
                </c:pt>
                <c:pt idx="200">
                  <c:v>-0.028915354699</c:v>
                </c:pt>
                <c:pt idx="201">
                  <c:v>-0.389575796987</c:v>
                </c:pt>
                <c:pt idx="202">
                  <c:v>-0.342495019419</c:v>
                </c:pt>
                <c:pt idx="203">
                  <c:v>-0.38746854958</c:v>
                </c:pt>
                <c:pt idx="204">
                  <c:v>-0.521824875568</c:v>
                </c:pt>
                <c:pt idx="205">
                  <c:v>-0.348711168284</c:v>
                </c:pt>
                <c:pt idx="206">
                  <c:v>0.175084276206</c:v>
                </c:pt>
                <c:pt idx="207">
                  <c:v>0.083602549534</c:v>
                </c:pt>
                <c:pt idx="208">
                  <c:v>-0.163682570713</c:v>
                </c:pt>
                <c:pt idx="209">
                  <c:v>0.505112087176</c:v>
                </c:pt>
                <c:pt idx="210">
                  <c:v>0.08363422754</c:v>
                </c:pt>
                <c:pt idx="211">
                  <c:v>0.484333294625</c:v>
                </c:pt>
                <c:pt idx="212">
                  <c:v>0.053664193324</c:v>
                </c:pt>
                <c:pt idx="213">
                  <c:v>-0.226252573663</c:v>
                </c:pt>
                <c:pt idx="214">
                  <c:v>-0.174998218706</c:v>
                </c:pt>
                <c:pt idx="215">
                  <c:v>-0.344696640888</c:v>
                </c:pt>
                <c:pt idx="216">
                  <c:v>-0.317429136622</c:v>
                </c:pt>
                <c:pt idx="217">
                  <c:v>-0.255010264163</c:v>
                </c:pt>
                <c:pt idx="218">
                  <c:v>-0.455346598536</c:v>
                </c:pt>
                <c:pt idx="219">
                  <c:v>-0.435445550756</c:v>
                </c:pt>
                <c:pt idx="220">
                  <c:v>-0.343838694872</c:v>
                </c:pt>
                <c:pt idx="221">
                  <c:v>-0.073272219542</c:v>
                </c:pt>
                <c:pt idx="222">
                  <c:v>-0.397399604695</c:v>
                </c:pt>
                <c:pt idx="223">
                  <c:v>-0.355176781453</c:v>
                </c:pt>
                <c:pt idx="224">
                  <c:v>0.015850552646</c:v>
                </c:pt>
                <c:pt idx="225">
                  <c:v>-0.24906535823</c:v>
                </c:pt>
                <c:pt idx="226">
                  <c:v>-0.022000045706</c:v>
                </c:pt>
                <c:pt idx="227">
                  <c:v>-0.159042402683</c:v>
                </c:pt>
                <c:pt idx="228">
                  <c:v>-0.184809821337</c:v>
                </c:pt>
                <c:pt idx="229">
                  <c:v>-0.283711198233</c:v>
                </c:pt>
                <c:pt idx="230">
                  <c:v>0.041839717348</c:v>
                </c:pt>
                <c:pt idx="231">
                  <c:v>-0.193445377968</c:v>
                </c:pt>
                <c:pt idx="232">
                  <c:v>-0.136289014379</c:v>
                </c:pt>
                <c:pt idx="233">
                  <c:v>-0.188697636707</c:v>
                </c:pt>
                <c:pt idx="234">
                  <c:v>-0.273518799563</c:v>
                </c:pt>
                <c:pt idx="235">
                  <c:v>-0.24534187252</c:v>
                </c:pt>
                <c:pt idx="236">
                  <c:v>-0.024715114868</c:v>
                </c:pt>
                <c:pt idx="237">
                  <c:v>0.779419470636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6E2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2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综合分数 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2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综合分数</c:v>
          </c:tx>
          <c:spPr>
            <a:solidFill xmlns:a="http://schemas.openxmlformats.org/drawingml/2006/main">
              <a:srgbClr val="1456A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28E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456A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456A0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1456A0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1456A0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M1</c:v>
                </c:pt>
                <c:pt idx="1">
                  <c:v>G24</c:v>
                </c:pt>
                <c:pt idx="2">
                  <c:v>K26</c:v>
                </c:pt>
                <c:pt idx="3">
                  <c:v>G20</c:v>
                </c:pt>
                <c:pt idx="4">
                  <c:v>G40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10.985226822041</c:v>
                </c:pt>
                <c:pt idx="1">
                  <c:v>3.422572687757</c:v>
                </c:pt>
                <c:pt idx="2">
                  <c:v>2.481676502072</c:v>
                </c:pt>
                <c:pt idx="3">
                  <c:v>2.323075404244</c:v>
                </c:pt>
                <c:pt idx="4">
                  <c:v>2.30841402221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B1F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2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综合分数 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2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2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筛查排名</c:v>
          </c:tx>
          <c:spPr>
            <a:solidFill xmlns:a="http://schemas.openxmlformats.org/drawingml/2006/main">
              <a:srgbClr val="1456A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6282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62828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62828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1456A0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G67</c:v>
                </c:pt>
                <c:pt idx="1">
                  <c:v>Y66</c:v>
                </c:pt>
                <c:pt idx="2">
                  <c:v>S65</c:v>
                </c:pt>
                <c:pt idx="3">
                  <c:v>G24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211</c:v>
                </c:pt>
                <c:pt idx="1">
                  <c:v>223</c:v>
                </c:pt>
                <c:pt idx="2">
                  <c:v>225</c:v>
                </c:pt>
                <c:pt idx="3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B1F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2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rank（数值小者靠前）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2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2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8C1EFF-75AD-4AAE-9F58-57CDBAA2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一条 GFP 序列完成了 ESMC 6B 与 SAE 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B3C69-EAF8-4A03-9E5A-28D15104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本地复现、计算原理与结果复核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84A7E-0692-44A6-ABF9-FE695097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3E87C-1BBD-44C1-9212-F05DD0EA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项目概览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C4B3D-5A94-4672-B45C-0B416467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01 /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0F38A-11C8-40C2-87BA-1C75EAF8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85725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F2D0C-3A32-427C-9FC5-75475DFD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238 aa GFP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E3BAC-874B-494A-8ECD-BE1ACD6E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从 FASTA 序列到残基向量、候选排名与 layer 60 SAE 特征解释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E5D5B-39BD-4003-8645-C813A042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5240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1EA71-9D61-4ADD-9841-E5660405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524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BF875-A4B0-4AC9-A35F-472761E5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FASTA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08209-4AB4-47FA-8F6F-CECF522C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1529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238 个残基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779BF-CA44-4D15-8D58-D3037E1A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576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FF095-F551-44E3-A39C-6A83EBED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67125"/>
            <a:ext cx="15240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DF7FF3-BDEC-449D-854E-5C64DCDA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67125"/>
            <a:ext cx="1524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126BD-F802-4AB9-9F72-E738C10B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481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ESMC 6B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7C8BC5-4AFA-47D2-82EF-0BBD2910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1529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冻结前向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65953-A2D1-470C-8AAE-F9E157C6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576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9ACC04-137B-4F1B-BAD0-16B0DF0A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67125"/>
            <a:ext cx="15240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A93197-E5E9-49B7-96AD-1808D337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67125"/>
            <a:ext cx="1524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D7C701-410A-4255-8324-56302D2B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481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扫描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0B7F9C-C1F4-45BF-B188-8BC1439E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1529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238 个遮挡位置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F075AA-1DAE-4C19-BFB9-1BC6399D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576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EB090F-046A-4AC8-A8A0-9190E077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15240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8E1FF3-6FE7-46FF-AD2A-B0C02894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1524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29E35A-E470-4C14-BB9D-0479ABC9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rPr>
              <a:t>SAE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97FB69-ED57-40EB-B4D6-B3D86E73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529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15,232 条激活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63E813-25BF-4E05-BDDC-4277A27F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62525"/>
            <a:ext cx="8420100" cy="790575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A93EF0-5BAB-44F4-83BE-0CE400A0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62525"/>
            <a:ext cx="666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08801B-25DA-4712-BD58-553AFD7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81057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本页范围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3A0EE2-BE8C-4EA5-9703-599979BE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72100"/>
            <a:ext cx="8105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交付物保留残基向量、全位置评分、Top10 与 SAE 特征查表。科学结论聚焦可核查的运行观察和结构假设。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7217E4-B64A-43BB-A2FF-288130E2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24050"/>
            <a:ext cx="22479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A01357-1B89-441F-ABD4-412E7ED0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1455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8E2B"/>
                </a:solidFill>
                <a:latin typeface="Arial"/>
                <a:ea typeface="Arial"/>
                <a:cs typeface="Arial"/>
              </a:rPr>
              <a:t>16 GB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0662BB-5A6C-4501-A27C-8DB76A10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0985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本次 GPU 容量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0F1C68-55D1-45C5-A8E3-6591966E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38450"/>
            <a:ext cx="1943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RTX 5080 Laptop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4CA9A6-2AB4-4F57-8451-CE8D41C9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0"/>
            <a:ext cx="22479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29C5D7-BA7F-4888-AA53-10E84F6B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290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6BC668-625A-4FFD-B4F2-69D4287B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243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Transformer 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576E39-BC70-4BC3-BA57-7D3CA919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52900"/>
            <a:ext cx="1943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hidden width 2560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2A516C-0D29-4AC8-87FA-DFA25F11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52950"/>
            <a:ext cx="22479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A42F92-3005-498F-B1C5-B7F71B49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74345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294B7E-974E-45FD-AAA5-29F7470D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3875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每残基 SAE 非零项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7E700D-211A-4FBB-B362-59862531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467350"/>
            <a:ext cx="1943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codebook 16,384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CC99F0-FE56-44C5-85C6-BF6FFBD9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来源：run_metadata.json；candidate_sites_all.csv；sae_residue_activations.csv</a:t>
            </a:r>
          </a:p>
        </p:txBody>
      </p:sp>
    </p:spTree>
    <p:extLst>
      <p:ext uri="{BB962C8B-B14F-4D97-AF65-F5344CB8AC3E}">
        <p14:creationId xmlns:p14="http://schemas.microsoft.com/office/powerpoint/2010/main" val="646279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57C21E-C7FA-4062-A6E3-69BC071E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本次复现回答了计算流程与解释边界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0C0BB-7E60-4F3B-82D7-02AD1B8C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完成的运行产物支持流程复核，生物学结论保留校准边界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8C65B-6793-4020-8B87-FA5E1D84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C474D-11F8-493B-9990-1A1624B0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项目概览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0D63B-0F7A-4FBE-81B7-0F4095E6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02 /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EC5F3-0B8E-47F1-A035-C11F53B8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34A23-8780-4692-AFF0-00DF774F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238 × 2560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D8018-3E73-4B9A-A0BC-69E51CB8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302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残基隐藏矩阵 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CC179-F964-4DF9-8829-00524F63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302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state 80，FP16 保存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E7FF8F-385F-4A45-BC56-E84AFAC5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6690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29BA8-A4A9-4ECF-BDAE-4A32C058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574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8E2B"/>
                </a:solidFill>
                <a:latin typeface="Arial"/>
                <a:ea typeface="Arial"/>
                <a:cs typeface="Arial"/>
              </a:rPr>
              <a:t>238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E73F3-C331-4B69-8F4C-D1E1E972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02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单点遮挡扫描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4A025-855A-4956-858E-B9A20FC1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81300"/>
            <a:ext cx="302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每次只改变一个残基位置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D9E0E-2FC5-4BF5-8C2C-1834EBE2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6690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FE04D-55C2-48D7-AAA0-75BCED8A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15,232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33C10-0DCC-413A-9A29-48072436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52700"/>
            <a:ext cx="302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SAE 激活记录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B0972-7668-4A5A-86FE-8E16CABC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81300"/>
            <a:ext cx="302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238 × 64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777B7A-F403-4B70-885C-BA3F69AC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533400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8A4071-0697-44EB-BDD3-BA700C5D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rPr>
              <a:t>直接观测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15483A-68FF-4986-8BC9-144EB0D0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• 流程完整运行并保存 238 行评分表</a:t>
            </a:r>
          </a:p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• 1,134 个活跃 feature ID 有描述</a:t>
            </a:r>
          </a:p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• G24 与发色团控制位点保留在同一排序中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27A29-1ABC-4B07-AA2C-08D3AEE3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29000"/>
            <a:ext cx="556260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E3A57-996B-4804-B6BF-D2B0B23D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861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解释边界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27C06B-0B80-46E7-AA60-8F26C130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148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• 排名来自条件偏好与局部新颖度的启发式组合</a:t>
            </a:r>
          </a:p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• SAE 描述支持候选机制语义</a:t>
            </a:r>
          </a:p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• 发色团排名后段仍需对照、实验与多蛋白校准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A80D3-E97B-4B9B-8A27-E1628C68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来源：EVIDENCE_AUDIT.md；normalized_slide_data.json；UniProt P42212</a:t>
            </a:r>
          </a:p>
        </p:txBody>
      </p:sp>
    </p:spTree>
    <p:extLst>
      <p:ext uri="{BB962C8B-B14F-4D97-AF65-F5344CB8AC3E}">
        <p14:creationId xmlns:p14="http://schemas.microsoft.com/office/powerpoint/2010/main" val="317701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409BBE-28F2-4A29-84B4-9DF42F24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同一残基贯穿五段计算与验证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C1C76-819C-4436-9951-B3831C1B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每一段都接收上一段的明确产物，并为下一段提供可追踪对象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B9CBC-8463-478A-804F-063F8729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C1D21-7D8C-4EF8-8F39-0513C19F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学习路线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A6F94-22DC-4948-9A6F-4EBC2543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03 /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F0761-EC35-469A-A597-ED58E3F2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2000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A9B68-1777-44AF-9596-BB069872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AA513-9CF4-45F0-851B-C27412D2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F6387-DCA6-4336-BECB-69AFCC47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019425"/>
            <a:ext cx="171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P04–07</a:t>
            </a:r>
          </a:p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FASTA → token → 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2FC66-CD1F-4AB2-B424-9DF9FC9E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4787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0FFA6-4DFD-4EAC-9B6F-1E149A5E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051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BC47F-0548-4AD6-A180-7CFD3D86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33650"/>
            <a:ext cx="2000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3D30F-BDE3-49A9-8F28-745DB540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3365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4B3E23-8E7E-4A6D-81C3-A83A07A2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1462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8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28E2B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E952E-6111-47D2-976D-4F8DCFE7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019425"/>
            <a:ext cx="171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P08–13</a:t>
            </a:r>
          </a:p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投影、注意力、训练原理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188A31-7818-4E97-ABF1-F7CD8C35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4787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8E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34CB3-FB32-4A4E-9876-D89373FF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051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13D5A9-87DD-4BCD-B99A-C14C1222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33650"/>
            <a:ext cx="2000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115BDB-2503-4EA7-B47F-C64C6339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3365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DAADF9-5FF2-4EE8-9021-704DCFF6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1462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运行与评分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34C334-49B6-4ECF-811F-0F51A78A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019425"/>
            <a:ext cx="171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P14–23</a:t>
            </a:r>
          </a:p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遮挡 → margin / novelty → rank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6E95F4-6A1D-484E-955A-EBF9AAFA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4787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6D94C1-12C0-452B-AA92-02487CEA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051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84B2B0-E6EC-4792-900E-E9FB4F69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33650"/>
            <a:ext cx="2000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28204-34AE-4E02-8691-091E3D8F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3365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0E626A-4209-4C46-879A-BAF72E44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1462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rPr>
              <a:t>SAE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35E9B7-3B23-4A25-AADE-2D25B9E3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19425"/>
            <a:ext cx="171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P24–29</a:t>
            </a:r>
          </a:p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layer 60 → TopK feature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C9240F-801D-4E1E-98F0-1FC74CC3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C64F0F-A444-487B-8CD6-4B41B37B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051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DA27D1-8FE5-475E-A3FE-F28C1542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33650"/>
            <a:ext cx="2000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BF08C6-A7D3-4C5A-9179-BBF4FE97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3365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9EDBE8-501D-4EEA-BA2A-42BA254A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1462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8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28E2B"/>
                </a:solidFill>
                <a:latin typeface="Microsoft YaHei"/>
                <a:ea typeface="Microsoft YaHei"/>
                <a:cs typeface="Microsoft YaHei"/>
              </a:rPr>
              <a:t>证据与交付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417453-9EAC-441D-9585-6A3B5B35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19425"/>
            <a:ext cx="171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P30–34</a:t>
            </a:r>
          </a:p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编号审计 → 边界 → manifest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5EB992-07DC-4341-A92E-EB7DF3CA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4787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8E2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333CE7-54CF-4273-887A-FDA85A28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10172700" cy="1019175"/>
          </a:xfrm>
          <a:prstGeom xmlns:a="http://schemas.openxmlformats.org/drawingml/2006/main" prst="roundRect">
            <a:avLst>
              <a:gd name="adj" fmla="val 112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48EFC9-98BD-4DE9-8E10-8095C05F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767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rPr>
              <a:t>主线问题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197F08-A6CA-4B9A-BB35-EC2BF547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48200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aᵢ 如何变成 hᵢ？遮挡 aᵢ 后如何得到 mᵢ？局部 hᵢ 如何得到 nᵢ？sᵢ 如何形成候选排名？layer 60 SAE 怎样提供可追踪的 feature ID？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B9288C-06AB-4224-9290-FE02245E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来源：design_spec.md 第 IX 节；本次运行工件</a:t>
            </a:r>
          </a:p>
        </p:txBody>
      </p:sp>
    </p:spTree>
    <p:extLst>
      <p:ext uri="{BB962C8B-B14F-4D97-AF65-F5344CB8AC3E}">
        <p14:creationId xmlns:p14="http://schemas.microsoft.com/office/powerpoint/2010/main" val="11022309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F047FE-4EF0-4698-8E53-8340DD92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测试序列与审阅版 GFP 完全一致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AA9A0-3A9C-4CAA-873C-DA7ECEBF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238-residue FASTA 与 UniProt P42212 的序列身份经 MD5 和逐位点复核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CADE3-5037-4624-9F6A-0574D403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76B8F-D81E-4D91-87E5-9A7E0EE6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输入与编号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1DC5B-EAE9-479E-A768-86AF2248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04 /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5376D-49A6-46F0-B66D-CC5CA027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11239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ED33D-B883-45C2-ACE3-5298CF0F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rPr>
              <a:t>GFP 序列窗口 61–70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921FA-A383-4B2F-83ED-4691FEAD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71750"/>
            <a:ext cx="7048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6D18B-FD0D-407A-A50B-168A7E60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3842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5E5544-8368-420A-B484-C3FB671E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76550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61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9E236-34F8-4BD7-9E2D-F60695B2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571750"/>
            <a:ext cx="7048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CCA29-B7C7-44C2-B989-9F075848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63842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0B1CC-4F2C-433B-9721-D1AAD23C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876550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62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BE0A5-4061-4294-9011-0310CDB7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571750"/>
            <a:ext cx="7048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1E834-1BBA-4849-BA0A-105CCA34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3842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9C90E-9CEC-4583-A856-A3D969FF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76550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0701B3-FD0B-4429-8354-8EA22B9D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571750"/>
            <a:ext cx="7048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2EDD4C-72F5-49D4-8271-2D0ECEC2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63842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746C4-B657-435E-B486-0DF60C3E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876550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E25F97-08A1-4C87-8D08-B66D5BD0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71750"/>
            <a:ext cx="7048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7B65E-AE66-4ACA-9104-BBC16682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63842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17BB8C-529D-4645-A90A-894D1009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876550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65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490EF8-16B1-406C-8F98-FBC130EB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71750"/>
            <a:ext cx="7048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43B5E7-362B-4BC9-800B-5EE69968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3842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825DF0-9FB9-4D90-9A19-B7368EF9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76550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66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DAB8B4-9489-4044-B6CC-F72AF96C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571750"/>
            <a:ext cx="7048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87137E-29E4-4AF4-BD23-8F99C75D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63842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B8A301-CDF7-4144-AD69-08D3B9BA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76550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1A97D7-2A3F-4465-8D07-EC2EE4B1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571750"/>
            <a:ext cx="7048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E2A0FF-8D07-47D3-ACA6-5C8DA545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3842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C0C348-9E20-426C-A165-A50F382E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876550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68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CBCBF3-3071-46E5-9332-845D4DBE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71750"/>
            <a:ext cx="7048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6BBF8A-C21E-4CBE-8AB5-55D8A56F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3842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Q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BFCE89-C880-41BC-AB3E-6A0E59C5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76550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69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55E0DC-C4E8-47D3-A6B5-B8D45695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571750"/>
            <a:ext cx="7048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20BF88-7617-4D3A-BE61-B68EDA45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3842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BE28C2-1522-4AAC-BF50-12B04382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876550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70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140A00-9CD5-460C-BF86-B0346AD8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05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8E2B"/>
                </a:solidFill>
                <a:latin typeface="Arial"/>
                <a:ea typeface="Arial"/>
                <a:cs typeface="Arial"/>
              </a:rPr>
              <a:t>S65–Y66–G67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FD3A13-D246-4994-9C6F-81460163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0"/>
            <a:ext cx="33909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8AA963-6A8B-4610-8485-5B4F38BC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FB631E-59AD-4E9C-829B-94091667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48100"/>
            <a:ext cx="3076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输入序列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34FE81-5B83-4DBE-B426-B22F12DD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24325"/>
            <a:ext cx="3076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FASTA 长度 L = 238。运行表 positions 1…238 与原序列字符逐项一致。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CAACFB-471A-43C2-96BC-25EB4422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14750"/>
            <a:ext cx="33909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41163C-F4FC-40C0-9EFD-C813B97B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14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BD2AC3-9C31-43A3-A48D-6A9A0024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848100"/>
            <a:ext cx="3076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外部身份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4612B1-496E-4177-9CA3-8061CFDD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124325"/>
            <a:ext cx="3076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UniProt P42212 提供 GFP 序列身份。MD5 比对支持审阅版与测试 FASTA 一致。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87315F-2AB0-434F-8B3E-0D2C3B20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14750"/>
            <a:ext cx="38481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F73460-FABC-437D-BF55-B5DA03E3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14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11D597-4BC0-42AC-8D83-389E3BBE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848100"/>
            <a:ext cx="35337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结构参照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40312A-5145-4412-97DD-EA3E6113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124325"/>
            <a:ext cx="35337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PDB 1EMA 是变体结构。其 CRO 复合残基与 FASTA 的编号关系在 P30 单独审计。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8183F3-1B6B-4029-9B49-D58D74F9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来源：input_sequence.fasta；UniProt P42212；RCSB PDB 1EMA</a:t>
            </a:r>
          </a:p>
        </p:txBody>
      </p:sp>
    </p:spTree>
    <p:extLst>
      <p:ext uri="{BB962C8B-B14F-4D97-AF65-F5344CB8AC3E}">
        <p14:creationId xmlns:p14="http://schemas.microsoft.com/office/powerpoint/2010/main" val="13388741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F06009-FA29-4E1A-BF81-6534454F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每个运行文件承担一个可核查任务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73FA3-8AAC-459D-90D2-3ED31BEA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输入、矩阵、评分、SAE 和元数据各自保存一个可以复读的对象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09FB5-7A7A-451F-A831-B4859C06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44B92-FDBF-4481-A3E0-3E93BBB3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输入与编号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DC158-5D55-4AEA-A8DD-76EC4777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05 / 34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476250" y="1952625"/>
          <a:ext xmlns:a="http://schemas.openxmlformats.org/drawingml/2006/main" cx="7810500" cy="3114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667000"/>
                <a:gridCol w="4095750"/>
              </a:tblGrid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FASTA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input_sequence.fasta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238 aa 输入序列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residue_embeddings.npz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238×2560 残基矩阵与 mean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score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candidate_sites_all.csv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238 位点完整评分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SAE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sae_residue_activations.csv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position × feature 激活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summary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sae_feature_summary.csv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feature 描述与活跃位置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manifest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run_metadata.json / report.md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版本、命令和环境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ED417-1AB1-46CD-A2EF-917B581C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52625"/>
            <a:ext cx="310515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7BAAA-4274-48FC-BC35-E7C96EB7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52625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856E4-7D58-47C6-81BC-118D6297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85975"/>
            <a:ext cx="2790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检查 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F45AD-F0C8-455F-A11D-587836B3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62200"/>
            <a:ext cx="27908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评分总表有 238 行，对应每个 FASTA 位置。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023A2-644E-49D7-8594-58F6BFFB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14675"/>
            <a:ext cx="310515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648E8-D683-406D-8B23-E9D67E09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14675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2C422-83CF-4299-8BA8-0EF23446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48025"/>
            <a:ext cx="2790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检查 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CAA5D-EF51-4227-9902-C68182FB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24250"/>
            <a:ext cx="27908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position、rank 与残基字符回到原始序列。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A6E5B-7200-4F1D-A821-5969A0C8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76725"/>
            <a:ext cx="310515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74CC2-5A96-47A6-831E-595D24B0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76725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0A6A57-6516-4016-B269-CEBA68B8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10075"/>
            <a:ext cx="2790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检查 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CC63CF-AF23-4C63-8F50-AEDC7D94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86300"/>
            <a:ext cx="27908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版本、模型修订和运行设置由 manifest 保留。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BC55EB-F2B4-4C73-97F4-55664035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721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完整数据保留全部 238 个位置。Top10 仅是后续讲解入口。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3E9746-2FFA-435C-8FD9-F6C354E8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来源：run_20260905T135554Z_smoke_gfp/ 下的已复制工件</a:t>
            </a:r>
          </a:p>
        </p:txBody>
      </p:sp>
    </p:spTree>
    <p:extLst>
      <p:ext uri="{BB962C8B-B14F-4D97-AF65-F5344CB8AC3E}">
        <p14:creationId xmlns:p14="http://schemas.microsoft.com/office/powerpoint/2010/main" val="1006310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97650CB-B67C-4B88-8351-945290CD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特殊 token 掩码固定了残基编号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6EB2B-B0F8-4AD2-AFA0-ACD9A15A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special_tokens_mask 将 238 个 FASTA 残基与模型 token 位置逐个对应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9557E-8D70-40C4-9B2A-415FC152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252E6-CE0A-4C83-A0C0-30C40233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输入与编号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4F598-CF70-430D-BC55-454FC09E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06 /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907CF-BC7A-4ADC-A888-395DB7D8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rPr>
              <a:t>实际 tokenizer 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01603-7921-4EED-A1EC-84B6C05B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11811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5C79B-DF63-46B3-9DB4-C6B6B51D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&lt;cls&gt;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89CCE-AA68-4083-9605-1C0FE537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t=0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2E1D8-7EE5-4F41-9FF3-75974D16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1104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62828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C62828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3B779-36C7-4C8A-AA0C-F0502060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76450"/>
            <a:ext cx="1047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98DBD-07CD-400F-9FE9-B0C11838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1717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73FCD-525F-4469-8BCD-97974C7C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476500"/>
            <a:ext cx="971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t=1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A0C0A-9841-43CA-87DF-64B0A768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09900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6B300-C0B8-416D-9458-E23A6EE1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76450"/>
            <a:ext cx="1047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223F1-FD3A-466B-B4C6-C87DBA9B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717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6DC60-CF34-4C87-A2CA-3228AC95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76500"/>
            <a:ext cx="971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t=2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7ED472-C634-4867-A530-4CCBFD65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09900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A73764-4FE8-48A2-AD77-7D9AE015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76450"/>
            <a:ext cx="1047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7FA27A-2897-4D9C-B198-800402FD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717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153AD5-7C02-4633-8619-B5F8E46F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76500"/>
            <a:ext cx="971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t=3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85003E-2BC5-4AE3-8CB9-B2699BBF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09900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9DE2FD-E368-41B9-A8EC-81ED8B71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76450"/>
            <a:ext cx="7048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502697-4183-4539-ADFD-9AF39765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717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0C19D1-86F8-465F-98B5-38ACE02B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76500"/>
            <a:ext cx="628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t=…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086FC6-038E-4663-9EF6-BEEE6666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09900"/>
            <a:ext cx="628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626DA7-9075-43EE-B9E3-3E651F89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1047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698236-4753-41EF-BFBD-A5F1CCFA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717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F22988-C125-4D96-BFC8-F9B8FB6E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76500"/>
            <a:ext cx="971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t=236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AFDD04-023C-480C-A90C-94177710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9900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F7719A-E333-4DE5-9D92-39611AC5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76450"/>
            <a:ext cx="1047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F5D03B-B1FA-4F44-8C41-BE7B7734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C036F7-EC5A-495A-834F-20641BFC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76500"/>
            <a:ext cx="971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t=237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9E11B5-DA32-4ABC-BF3F-D22CB084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9900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2DBCAB-C0FA-4605-B3F2-999E30E0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76450"/>
            <a:ext cx="1047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88F6AA-2C6D-4A97-97AF-6D6D86E5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717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48EE7C-FE62-4CC8-98B3-0CA8D733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76500"/>
            <a:ext cx="971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t=238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B059C7-0864-445B-8450-385AF02A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09900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AC72BC-9B52-47CA-9D2C-5386F6BE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76450"/>
            <a:ext cx="11811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B13CF8-E678-4BCD-A549-688455ED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71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&lt;eos&gt;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DE2DDE-FEA4-4D16-8C1A-93DA14E7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765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t=239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F1C7DC-A6F7-4A5A-9D93-835C1545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009900"/>
            <a:ext cx="1104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62828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C62828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20E71F-CE46-41E3-B2AC-C31C9576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33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special_tokens_mask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32A2BD-4C25-4B9D-8A17-D24F66C3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3190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F358C9-A8B5-4A5D-AFB4-38CA5909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09975"/>
            <a:ext cx="2905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rPr>
              <a:t>mask=0 的位置进入残基映射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C5B06C-67F1-412B-9DEE-4625978A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11201400" cy="100965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7C84E7-30F7-4CBC-ABAB-890E6A17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4337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FASTA（1-based）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CE61DA-9D3E-431E-8BB0-154D1B5D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95750"/>
            <a:ext cx="12001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E20270-7706-4547-A626-B0A278D0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19575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a₁ = 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59AB60-BC92-4DDE-9827-6A7D4A52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767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t₁ = 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F307D0-BFA7-428F-9475-5D616335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95750"/>
            <a:ext cx="12001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DC82E5B-B73F-40D3-B45A-FB8E6DEF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19575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a₂ = 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45B8FFC-8C24-4B42-B325-05119782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767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t₂ = 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1A41497-C0E9-4E0F-8AC9-AA0A62EA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95750"/>
            <a:ext cx="12001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47BA7D-80FF-4464-9A23-DBD8F4A9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19575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a₃ = 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35442B-7CD5-40AB-9320-3BB3634F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767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t₃ = 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52D005-15BA-4233-B1B6-00E9652E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552450" cy="6667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0A6DF99-90DD-4D0C-8EC0-BA64E96F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195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…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384A94-1C1B-4C94-8B8E-11F04A35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76750"/>
            <a:ext cx="47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…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2A8EB3F-2A23-4B57-BBB7-7D822D55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12001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0091A9A-1AD2-40A9-A8E5-F36F572F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19575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a₂₃₆ = 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4DABEF1-BEC6-4372-B0A3-8612EC14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767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t₂₃₆ = 236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358E569-5974-4CDC-B9E6-35329F14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95750"/>
            <a:ext cx="12001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A03DAE9-A1B4-47ED-9BEE-BE0A3EDB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9575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a₂₃₇ = 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CDB3B68-6EC4-43DB-BB59-D78E03B2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t₂₃₇ = 237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2B6A4FA-C6D7-4257-815A-76B511D9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95750"/>
            <a:ext cx="12001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EA28D72-F835-4A46-AAF7-61F239B3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9575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a₂₃₈ = K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58F5178-8D3E-416F-8ABA-D0BC45EB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767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t₂₃₈ = 238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3A18F7D-874F-4656-88CF-1119BA24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95875"/>
            <a:ext cx="35433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E2A101B-D7CE-4436-BD06-CD460E80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95875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B61D9BB-805F-4E97-A4B9-BBBF9AEE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29225"/>
            <a:ext cx="3228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序列长度与 token 长度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90D2121-42AE-4D6B-9005-86214AA8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05450"/>
            <a:ext cx="3228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L = 238。T = 240，其中 token 0 是 &lt;cls&gt;，token 239 是 &lt;eos&gt;。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BE7E0E1-46B6-4957-BA6B-6C49B87F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95875"/>
            <a:ext cx="35433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85EAC5C-C640-436F-BF6C-58D14C70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95875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8C22450-604E-45B1-A159-EE97E09E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229225"/>
            <a:ext cx="3228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映射规则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CF2A467-3976-4787-807B-489533E7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505450"/>
            <a:ext cx="3228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仅选 special_tokens_mask = 0 的位置。每个位置再与 FASTA 字符逐项核对。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B1DBE4D-67DA-415D-90D5-50BA35E3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95875"/>
            <a:ext cx="35814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AA45D13-A160-4B7D-B7D0-5FACD492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95875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A6C9C00-9844-4D75-B386-B1BF37FA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229225"/>
            <a:ext cx="3267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编号用途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2E15B34-A26B-4443-95C9-A36EAF2D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505450"/>
            <a:ext cx="3267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embedding、遮挡扫描、SAE 激活都沿用同一套 1-based FASTA 编号。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5B3E22E-B489-4CC5-B0B1-0F8FAB90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来源：run_metadata.json；run_esmc_site_pipeline.py::token_mapping；本次 tokenizer 复核</a:t>
            </a:r>
          </a:p>
        </p:txBody>
      </p:sp>
    </p:spTree>
    <p:extLst>
      <p:ext uri="{BB962C8B-B14F-4D97-AF65-F5344CB8AC3E}">
        <p14:creationId xmlns:p14="http://schemas.microsoft.com/office/powerpoint/2010/main" val="12451863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923119-226C-48D5-9A2C-BA11D7A5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每个残基获得一个 2560 维上下文向量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5FFEF-2351-4F08-A5CF-C784A8C8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Token ID、embedding 与最终 hidden state 是连续计算链上的不同对象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A9010-F776-4933-B802-C7D933BF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8E83D-267D-427F-90E8-1F0F6E4D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输入与编号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75C0C-7BE0-4BEF-8DA4-D05A3E85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07 /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D9175-926C-4669-B165-FCFA326D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2190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C203A-E127-4BC7-BBA8-31DC6FAD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2743E-53D1-4E9E-B7F5-086CEB72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token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F0C59-1D07-4180-8F9D-C9A7AA72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5272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aᵢ → tᵢ</a:t>
            </a:r>
          </a:p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离散词表索引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EBA9D-1EDC-4226-9882-53FFE22D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71775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6BCBA-6112-45B0-B698-BB8902B9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2190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60F26-AD4A-4D8C-9566-99D1B04F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9BFB9-D743-410E-A9ED-00DE700B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4792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lookup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0CD2C-F74B-4F4D-A917-A7F9A52A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75272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embedding</a:t>
            </a:r>
          </a:p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T × 2560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98615-E983-4360-A551-7A8AC190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71775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9BA779-D50A-4187-94A9-42FB0674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2190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2B843D-F485-4AD2-8F82-E026BECD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35A05-DC5C-4313-87B2-8E7E6CBF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4792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80 blocks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1A9922-0BC6-42F0-836E-7482587E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5272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contextual state</a:t>
            </a:r>
          </a:p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T × 2560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CE85E9-86C3-4132-8005-F871B678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71775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0C405E-D976-4F1F-9EAF-ABE4BBF5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66950"/>
            <a:ext cx="2190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74C4FC-D06F-4C87-8260-8D494703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66950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4DB380-38DC-43D0-A4D3-B617B12F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4792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export 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0A461C-9642-4684-8075-F826BAAA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5272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238 × 2560</a:t>
            </a:r>
          </a:p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去除特殊 token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DBCED3-4C86-44CA-A41E-4554B2B8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6858000" cy="1266825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9FAA5D-BA13-4BCD-B561-11809587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H = [h₁; …; h₂₃₈]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36FC8B-479C-4001-950F-1590F317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每行 hᵢ 是残基 i 在完整序列上下文中的 2560 维向量。H 以 FP16 保存。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1A6F4D-CB7B-4F00-97C9-E67199B9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3333750" cy="1266825"/>
          </a:xfrm>
          <a:prstGeom xmlns:a="http://schemas.openxmlformats.org/drawingml/2006/main" prst="roundRect">
            <a:avLst>
              <a:gd name="adj" fmla="val 7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42353D-64AC-4AED-BFBF-4572AC4E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66675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CDD8C4-BA00-4878-99CB-87E6FA48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086225"/>
            <a:ext cx="3019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蛋白均值向量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555FD1-9007-4B06-B572-E876E816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362450"/>
            <a:ext cx="30194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protein_embedding = mean(H, rows)。输出维度仍为 2560，以 FP32 保存。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F68135-0AC6-44F9-AC39-E83EAE4B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14975"/>
            <a:ext cx="866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本次模型推理用 BF16。导出精度与计算精度分别记录。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E269CE-8448-4A2B-AAE0-D96D2E89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来源：residue_embeddings.npz；run_esmc_site_pipeline.py::export_embeddings</a:t>
            </a:r>
          </a:p>
        </p:txBody>
      </p:sp>
    </p:spTree>
    <p:extLst>
      <p:ext uri="{BB962C8B-B14F-4D97-AF65-F5344CB8AC3E}">
        <p14:creationId xmlns:p14="http://schemas.microsoft.com/office/powerpoint/2010/main" val="4291160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7AE6B4-83EA-4837-843E-45147B2B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80 层模型反复更新同一序列表示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02434-6C72-4AE6-A706-422B8752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每层保持 T × 2560 接口，并在注意力与 SwiGLU 中暂时展开内部维度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FF6CD-09B1-4BB5-B286-BA60AA8B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53A97-8245-49A0-9C7E-766A0D2B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模型与注意力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369D1-6870-4D8A-964B-BCC70103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08 /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8AE5F-D0E8-4C5F-8465-CFB69175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847850"/>
            <a:ext cx="2571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56BFD-AF1F-4C4A-B094-F9E3C428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383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1EB05-6D5E-479F-B061-C41ADE12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layers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5B0FE-C777-46C4-A97A-D377AAF2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62250"/>
            <a:ext cx="2266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config / code audit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4648B-3C99-4ECA-AB04-7F732358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47850"/>
            <a:ext cx="2571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37FEA-A02E-4DC4-AE08-2FF0083C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383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8E2B"/>
                </a:solidFill>
                <a:latin typeface="Arial"/>
                <a:ea typeface="Arial"/>
                <a:cs typeface="Arial"/>
              </a:rPr>
              <a:t>2560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35A23-90E9-482E-B6DA-17CA87D4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33650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hidden width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7C610-1367-43D3-B34F-C43F29FD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762250"/>
            <a:ext cx="2266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config / code audit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460723-49D0-4D5C-B87C-ED651C0C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847850"/>
            <a:ext cx="2571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48207-2B54-4160-BEEF-DAFD2949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383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40 × 64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6D81E-6737-4725-96DF-1D90D7D7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33650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heads × head dim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0B388F-82C9-41EE-810D-8EA22282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62250"/>
            <a:ext cx="2266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config / code audit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803F1-A9C2-454E-BE83-D9106136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47850"/>
            <a:ext cx="2571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FCF123-3DDD-4514-ABB4-329005B6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383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6912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007F76-9872-4D84-8B09-353D6D5A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533650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SwiGLU intermediate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B30B8-77EB-40D3-AB46-26C1A67F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762250"/>
            <a:ext cx="2266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config / code audit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8D57F1-1883-4E63-9A89-4D87B0BB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2143125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9E4171-BC3F-466C-AA94-AA165868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2143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EAA317-90F3-4D10-BE2F-418CC2B1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1838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X⁽ˡ⁾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72CDF3-95BB-4684-9B2B-C23078A9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07670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T × 2560</a:t>
            </a:r>
          </a:p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当前层输入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6FFA6F-5F42-40F4-AB3F-ECB7791A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29075"/>
            <a:ext cx="4572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274870-21B9-47F2-8606-38FD7176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90925"/>
            <a:ext cx="2143125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D05274-2DB1-4A45-B27A-8D896AF7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90925"/>
            <a:ext cx="2143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E96A0B-A759-439C-9FA0-5F2C59A5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71900"/>
            <a:ext cx="1838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8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28E2B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C38E91-2616-43CF-BA8D-792F4D5C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07670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Q/K LayerNorm</a:t>
            </a:r>
          </a:p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RoPE · SDPA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85AFBE-14E7-4C8D-83C2-098736CB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29075"/>
            <a:ext cx="4572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6EF9B1-61CB-47CD-8886-0FDCA0CA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90925"/>
            <a:ext cx="2143125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F72917-3F82-4CD5-9E4D-91B4C0A6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90925"/>
            <a:ext cx="2143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B58490-452D-44BE-95FD-C7B17DA3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71900"/>
            <a:ext cx="1838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SwiGLU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E637ED-E907-42E6-8A41-CDC57B0D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7670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pre-LN · 线性投影无 bias</a:t>
            </a:r>
          </a:p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2560 → 6912 → 2560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E57A88-327E-41A4-B43A-C49F4359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29075"/>
            <a:ext cx="4572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9CA455-435F-4FCA-A4F7-6BE6A4E0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90925"/>
            <a:ext cx="18097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8723E9-00DC-440B-8C23-B7952CB3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90925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1B5975-B9ED-4845-BA97-F0DBA7E1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7190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X⁽ˡ⁺¹⁾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374536-670D-4D33-8128-98D655A6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0767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T × 2560</a:t>
            </a:r>
          </a:p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残差输出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1C38EB-544F-4BD0-A0B4-F829CE8D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01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最终导出 state 80 / final normalized state，并排除 &lt;cls&gt;、&lt;eos&gt;。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9EC6E6-A4E5-4F50-8B05-7C99650D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来源：normalized_slide_data.json::architecture；缓存 config 与 installed esm 代码</a:t>
            </a:r>
          </a:p>
        </p:txBody>
      </p:sp>
    </p:spTree>
    <p:extLst>
      <p:ext uri="{BB962C8B-B14F-4D97-AF65-F5344CB8AC3E}">
        <p14:creationId xmlns:p14="http://schemas.microsoft.com/office/powerpoint/2010/main" val="2355276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31EDDF-6152-437E-B328-2454FB17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Q、K、V 分别学习匹配与内容变换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AC873-DAE1-4148-BDBA-F8976B0D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完整投影保持 2560 维，Q/K 标准化后再拆成 40 个 64 维 head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010A0-5105-47A7-96BD-B3E82080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F3EC3-6B4B-440F-AB02-4B78D328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模型与注意力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F75E7-528E-4781-8EE1-E35BD438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09 /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ADDC8-CE58-4705-9E1D-A88DD81C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62125"/>
            <a:ext cx="112395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D7A81-4990-4741-9CF7-C727B5E5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X ∈ R^(T×2560)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46E3A-9C12-4A3A-BFBC-33CD9BC5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43100"/>
            <a:ext cx="647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6CFFB-E1B3-4EDF-83E8-A1688B53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621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三个并行线性投影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24B98-F057-40C5-9673-CE246607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43100"/>
            <a:ext cx="647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2CE4B-B0A6-48BF-A143-84F36B90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4310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Q、K、V ∈ R^(T×2560)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2C8CF-AB5E-4496-ADBD-4990BCCE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0"/>
            <a:ext cx="352425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FCC77-3B28-4355-A5C7-41E77F0D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Q = XW_Q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5D9DB-0556-4A5C-954A-A04DCE43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提问的匹配方向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6AE30-5DFC-43BA-BA63-637760C0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单头切片：2560×64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C4DC6A-14B6-42B2-9C6F-8581D1FA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302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线性投影无 bias。本次运行保持冻结。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3D0F3-E994-4EDF-AF9D-77D2C2B7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57500"/>
            <a:ext cx="352425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02C63-3A20-4415-B5A9-14BC6EF4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242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K = XW_K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D9040-4F02-4557-AFA0-ADB14FED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6385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提供可比较的索引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83627-7343-4E0C-ABAE-4493B228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1148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单头切片：2560×64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849A5-B3FD-4AF9-B3A3-8C33FCE0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495800"/>
            <a:ext cx="302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线性投影无 bias。本次运行保持冻结。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2181B1-8405-441C-97DD-C237E373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352425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00F0C1-2BE3-4C1A-8CA7-90106CAF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242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V = XW_V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9F1DA3-1171-4F9A-AE25-B971DC19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385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提供可聚合的内容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8AEF1C-72D4-4E68-A14B-C18ADEA3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148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单头切片：2560×64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F3CC63-8B85-41CE-B62E-A25B472D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95800"/>
            <a:ext cx="302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线性投影无 bias。本次运行保持冻结。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BFB160-46CC-4FCF-960B-10A49571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来源：normalized_slide_data.json::architecture；本地 attention 实现</a:t>
            </a:r>
          </a:p>
        </p:txBody>
      </p:sp>
    </p:spTree>
    <p:extLst>
      <p:ext uri="{BB962C8B-B14F-4D97-AF65-F5344CB8AC3E}">
        <p14:creationId xmlns:p14="http://schemas.microsoft.com/office/powerpoint/2010/main" val="12718737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C9CCDE-047D-4ADB-A495-AF257C65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Softmax 将一行匹配分数归一化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DBB00-3AC2-4D11-8776-AE61EEEB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玩具 3-token 单头例子沿用到下一页的 Value 加权组合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2C181-2FB2-4EA6-BFBB-2A09801E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07B28-4566-4AA8-B9A2-7E00071A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模型与注意力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9FE63-91C1-4D8E-A51A-961B65F2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10 /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67D5E-BC01-4AA3-995D-FE0C2744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12776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B5118-4E3C-4029-B554-87E543B6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Sᵢⱼ = qᵢ kⱼᵀ / √64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3CD67-E3E9-4408-852B-FFE73E24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885950"/>
            <a:ext cx="10096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91041-6282-4CDE-A55D-868DD287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47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A = softmax(S)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F563C-D9B5-4E2A-88FF-39B1E63A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14525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545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Q/K 先在 2560 维做 LayerNorm，再拆成 64 维并施加 RoPE。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3D0C9-FFC0-4A60-8F11-9702D61E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19375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0D3E6-B2D6-48D2-911C-FB89B54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rPr>
              <a:t>匹配分数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9E569-2DF7-4743-8572-6562CD7F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S = [ln 1, ln 2, ln 3]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3313E6-E20A-46B8-B637-79E79B22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第 i 个 Query 对三个 Key 的原始相对分数。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8C6DE-1C44-4811-B956-07E28349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14700"/>
            <a:ext cx="304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50E8B3-3403-43BF-B37A-98BA54B4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619375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08B913-2A7E-45B6-B801-68360214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09875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8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28E2B"/>
                </a:solidFill>
                <a:latin typeface="Microsoft YaHei"/>
                <a:ea typeface="Microsoft YaHei"/>
                <a:cs typeface="Microsoft YaHei"/>
              </a:rPr>
              <a:t>逐项指数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FEBFC-D696-4CC5-A4AB-8898B9DF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90875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exp(S) = [1, 2, 3]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8E919-BA1E-43DE-B5A6-F4F2E6BF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147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指数把每个分数映射为正值。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68958F-FD60-4556-A26D-68D1F2AF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14700"/>
            <a:ext cx="304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22C544-5C81-4158-9AAC-3D6D4022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19375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944341-49C5-4C61-A975-80AD7619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9875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行内归一化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70FBFB-5CAE-4068-8FF3-BA2448C6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90875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A = [1/6, 2/6, 3/6]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8731A0-51C0-4776-8BF8-4EC8C87C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总和 1 + 2 + 3 = 6。该行权重和为 1。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54D608-3B0E-418A-B455-BCA336D0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485775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B90DA8-6D4D-437D-98DF-43A0C6D9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rPr>
              <a:t>行与列的含义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77059E-601D-400E-BB6C-C1FDB146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行 i：当前 Query。列 j：被匹配的 Key。单元 Aᵢⱼ：Query i 从 Key j 取得内容时使用的权重。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981AA1-8482-415D-9CE3-EA6789D6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29150"/>
            <a:ext cx="617220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8610F5-C5CB-4267-B8FA-0111E555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101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3-token 注意力矩阵的一行（1×3）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B89D51-FB76-40E9-8049-424C02E6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8635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Key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F1578E-A485-44FD-9454-5F8A8C83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8635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Key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B0DDE2-711C-4748-BB27-A70034FE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8635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Key 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620845-9538-4919-A15C-02C31647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4292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Query 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C47F03-78B8-45AB-A32B-350EBAD4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53050"/>
            <a:ext cx="6096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1922E8-9BF8-43A0-ADEF-2D9C3D86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483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1/6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592E0C-D02B-4C5B-B7D2-37592BAE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53050"/>
            <a:ext cx="6096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E487E3-DB57-4C1D-BDA6-832D7A51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483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2/6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CEBA0A-A3FE-4273-B9DD-355879A5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353050"/>
            <a:ext cx="6096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35CAAF-C55A-43BD-B192-31931AFC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4483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3/6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B6CD36-0628-4734-B22A-70BAD34A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734050"/>
            <a:ext cx="11049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C90E8D-EF4C-4EDB-B25B-2442A9C0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7912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28E2B"/>
                </a:solidFill>
                <a:latin typeface="Arial"/>
                <a:ea typeface="Arial"/>
                <a:cs typeface="Arial"/>
              </a:rPr>
              <a:t>玩具数值例子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ED9FDD-8A63-4807-B027-055E3C19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来源：基础算术；本地 ESMC attention 实现。真实 GFP attention 数值未在此页展示。</a:t>
            </a:r>
          </a:p>
        </p:txBody>
      </p:sp>
    </p:spTree>
    <p:extLst>
      <p:ext uri="{BB962C8B-B14F-4D97-AF65-F5344CB8AC3E}">
        <p14:creationId xmlns:p14="http://schemas.microsoft.com/office/powerpoint/2010/main" val="769859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3FE513-CF30-41E6-974A-65D9765E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注意力权重决定 Value 的加权组合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76EEC-CB72-45E2-A124-614D7049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同一行玩具权重从三个 Value 向量中取回比例不同的内容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C4769-6F42-4B68-B099-043B7708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196E4-7E8A-4B74-80C5-7E44596A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模型与注意力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13D22-869E-4778-8AB3-3FE72358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11 /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87A14-D8B5-4E32-B8E2-018FFFF5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1049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33F29-9C76-4140-8280-27D2ED06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28E2B"/>
                </a:solidFill>
                <a:latin typeface="Arial"/>
                <a:ea typeface="Arial"/>
                <a:cs typeface="Arial"/>
              </a:rPr>
              <a:t>玩具数值例子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E1CD1-C36A-4353-AA36-906BB87B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A = [1/6, 2/6, 3/6]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816B9-C041-4DCA-8E3F-157B913E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4312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2325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CDD4F-571C-4D17-A483-5478094A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0980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V = [[1,0], [0,2], [2,2]]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E7C66-B9F0-4281-9F1F-E0ED4247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4312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2325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=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8A62F-CD95-4B20-859C-8C422D6D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098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o = [7/6, 5/3]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089FF-5082-48FE-BD41-0CF9E43F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21907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088A4-51CE-454E-A966-AC69DF95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813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v₁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EEA5D-6843-404C-899F-6C395E73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623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[1, 0]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F32B5-56E7-45AA-A779-C28C967F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809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1/6 × v1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32B988-34BA-495E-A719-17CEE7B0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242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6B566-A31B-440F-902F-AA5B54B1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81350"/>
            <a:ext cx="21907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B4E453-D9D0-4711-BF31-09D2C3E2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813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v₂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F6FE92-C561-4C56-9DE8-FCE31674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623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[0, 2]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1DE39F-706A-481C-9599-F9E28C18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48125"/>
            <a:ext cx="1809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2/6 × v2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306253-E218-46A5-B862-969B7785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242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397C5E-99E3-4A04-ABBF-CF441728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81350"/>
            <a:ext cx="21907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C15FDF-E1B5-4F33-855F-CE44CD15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813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v₃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8EC231-5701-4F77-95FD-6D68F88C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623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[2, 2]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2D8057-8704-43C1-8C4F-40E63706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48125"/>
            <a:ext cx="1809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3/6 × v3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F30931-00A5-4EB1-A535-78CD6338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10668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EB76D8-A8C2-4E2A-BE09-30A9A4A2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0062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单头输出保持 Value 宽度 64。40 个 head 的输出拼接回 2560，再经 W_O 投影。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7A6486-5E12-4DF1-9DB5-59BE3EBF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62575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梯度可经输出 o 回到 A 与 V，再分别回到 Q/K 和 W_V。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3531BD-6A2C-4EC6-A9FE-0AF6BE0D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来源：基础算术；normalized_slide_data.json::architecture</a:t>
            </a:r>
          </a:p>
        </p:txBody>
      </p:sp>
    </p:spTree>
    <p:extLst>
      <p:ext uri="{BB962C8B-B14F-4D97-AF65-F5344CB8AC3E}">
        <p14:creationId xmlns:p14="http://schemas.microsoft.com/office/powerpoint/2010/main" val="11754478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EA0B5F-439D-4199-A6C6-638640BA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残差和门控 FFN 维持深层计算接口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B0AB0-677F-451B-97B3-F5ABC5ED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Attention 和 SwiGLU 都经缩放残差回到同一条 T × 2560 主干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AA0B9-78CC-401D-9A3F-67665989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A3479-B8BF-4DAC-B4F7-CA508AEB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模型与注意力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7F810-E4BB-4725-B307-589258EB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12 /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3E605-09F4-4CB5-BABF-F9149E9F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0744200" cy="3276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6EBAD-1CA4-4EFB-8B7D-E67EE8FB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47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Xᶩ  ·  T × 2560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D9146-3388-476A-9A49-159D2CEE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57425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7152B-5B40-4CD7-9C69-A02615F0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62150"/>
            <a:ext cx="2190750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AFB32-21D2-427C-84E0-85548756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62150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DFF6C-4333-419C-9D20-CEE00E22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8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28E2B"/>
                </a:solidFill>
                <a:latin typeface="Microsoft YaHei"/>
                <a:ea typeface="Microsoft YaHei"/>
                <a:cs typeface="Microsoft YaHei"/>
              </a:rPr>
              <a:t>pre-LN Attention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B9A2D-F80E-41C6-AE9E-2347B9CD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47925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Q/K LN(2560) → 40×64</a:t>
            </a:r>
          </a:p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RoPE · SDPA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1E7A44-FA9F-4F52-A3F4-6BA77023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5143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6A04D-BF8E-4F8D-8345-4FA44B91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2095500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5A7F18-8E44-467C-AD98-BA48D8ED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CFFFCC-1CC6-4257-848D-17ACEB20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43125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缩放残差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5B8D1F-CB62-4765-9C76-3A7279A8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4792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X + Attention / 1.490712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9BE5D7-F716-4E11-896C-E29FA272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6A6575-392E-4418-88DA-5DC67F05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47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X′  ·  T × 2560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61358-096A-4C6B-9476-09CF3EB7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371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同样的接口进入第二个子层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120864-1E2A-4FE1-A6E7-4B2505E3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0000"/>
            <a:ext cx="21907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8042B8-9EF8-42F0-8D15-4638742E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0000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6443B-EC83-42A5-B187-873E1990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9097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pre-LN SwiGLU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362856-8973-4405-AACB-F7B39CCF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29577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2560 → 6912 → 2560</a:t>
            </a:r>
          </a:p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非线性特征组合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CECC30-CEE3-45F9-A930-3D7D1C99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10050"/>
            <a:ext cx="5143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17C779-4C49-448B-B63C-AAC8A319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20955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947684-480C-4F24-A7B1-5A860D0B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9631E2-B713-48AC-AA4F-7571599A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90975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缩放残差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BFFCBA-EF44-466F-8B56-4D6EB58A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957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X′ + FFN / 1.490712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28BECC-F425-4C14-B4C2-31FA9244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673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identity 通路保留输入并为预训练梯度提供直接路径。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EB7202-9C3A-4B70-9E8E-FF6B33F2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来源：normalized_slide_data.json::architecture；installed esm block / FFN 代码</a:t>
            </a:r>
          </a:p>
        </p:txBody>
      </p:sp>
    </p:spTree>
    <p:extLst>
      <p:ext uri="{BB962C8B-B14F-4D97-AF65-F5344CB8AC3E}">
        <p14:creationId xmlns:p14="http://schemas.microsoft.com/office/powerpoint/2010/main" val="8366391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6B2283-F53B-43BF-ADE9-7AE4288A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掩码预测通过交叉熵学习上下文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05C71-4D85-4AAD-9182-77DE3BAA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预训练目标将被遮挡位置的真实氨基酸转成可微的训练信号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1A681-E31B-4899-84B6-F43A5426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CE324-1195-4659-8116-8E61AD78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训练原理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6E34A-31DE-4D71-8731-6255CD09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13 /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A3211-C100-45D1-BED4-288D075E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1952625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D60A2-3EA4-4C9B-B5D0-1565FF33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EF9D2-3F7D-4391-8B80-437F81DE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887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rPr>
              <a:t>原序列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56F37-65D2-4747-936C-2D024C79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33675"/>
            <a:ext cx="166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… A G F 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438FC-62AB-4D63-A2DB-A91C5F2A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57475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EFF07-636A-4B98-AD37-8650C0C3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247900"/>
            <a:ext cx="1952625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564AF-DE12-40DA-8F24-FFC605D2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24790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solidFill>
              <a:srgbClr val="C6282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AA77D-BA8A-457C-A898-6783CEB1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42887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62828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C62828"/>
                </a:solidFill>
                <a:latin typeface="Consolas"/>
                <a:ea typeface="Consolas"/>
                <a:cs typeface="Consolas"/>
              </a:rPr>
              <a:t>遮挡输入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FF9F8-AFB4-414F-8A20-DFB0A324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33675"/>
            <a:ext cx="166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… A &lt;mask&gt; F 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0FAA9-2571-42B5-A55C-B4018E4D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57475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6D9AF-5A4B-4B00-A9E4-6E7CC81B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47900"/>
            <a:ext cx="1952625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3C92DB-1A7B-4641-9FE4-0E0B5F6E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4790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ABB39-216E-4077-BF04-DB46B316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2887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logits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049468-ADA7-4043-AF52-406DD869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733675"/>
            <a:ext cx="166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64 个词元分数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918F2-5A79-47AB-999C-F364AD99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57475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2F74E7-6B93-4E8B-947E-D1039634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47900"/>
            <a:ext cx="1952625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12DF81-9810-4D39-9C75-A1717DC7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4790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F4790E-89BD-4AEE-92F7-0A2EC41F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2887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真实标签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BDE8DD-EE73-40CE-8CB3-32AE7C9F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33675"/>
            <a:ext cx="166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CFDA88-E708-42FC-9F66-125CE111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57475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24745A-DD29-4B03-A197-DFBE510C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47900"/>
            <a:ext cx="1952625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4DDF2A-A383-49D4-9DAE-FCCC0421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4790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2E0ACC-8253-4C31-A964-28810ED4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2887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交叉熵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C673BB-7A22-4BC6-AFA6-5F4689F4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733675"/>
            <a:ext cx="166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𝓛 = −log p(G)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E0AD04-71DE-4C1D-BD5F-A42C9720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29050"/>
            <a:ext cx="53340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36476B-3455-4A42-9663-4660D335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1049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5C40EF-E3F4-4B60-9CC0-666D1448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28E2B"/>
                </a:solidFill>
                <a:latin typeface="Arial"/>
                <a:ea typeface="Arial"/>
                <a:cs typeface="Arial"/>
              </a:rPr>
              <a:t>玩具数值例子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EE94F9-78F3-41B5-B5AA-EFDD6E1F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19600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p(true)=0.7  →  −ln(0.7)=0.357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727F07-7E32-47AA-9637-9E639133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810125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62828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C62828"/>
                </a:solidFill>
                <a:latin typeface="Consolas"/>
                <a:ea typeface="Consolas"/>
                <a:cs typeface="Consolas"/>
              </a:rPr>
              <a:t>p(true)=0.1  →  −ln(0.1)=2.303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D61449-B927-4355-86C8-7297E28B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5524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008AFE-0E14-481D-989E-3005DB0A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2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梯度方向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8E5A05-64B5-4329-9656-B50C71B5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43400"/>
            <a:ext cx="333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∂𝓛 / ∂logit = p − y</a:t>
            </a:r>
          </a:p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θ ← θ − η · grad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78B751-9F73-4BB4-A5A5-C9D0F4A6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9675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本次 GFP 运行采用 inference_mode，仅执行前向。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88EFFD-8FCF-407E-9570-F75730EE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来源：官方预训练原理；本地 runner 使用 inference_mode</a:t>
            </a:r>
          </a:p>
        </p:txBody>
      </p:sp>
    </p:spTree>
    <p:extLst>
      <p:ext uri="{BB962C8B-B14F-4D97-AF65-F5344CB8AC3E}">
        <p14:creationId xmlns:p14="http://schemas.microsoft.com/office/powerpoint/2010/main" val="1662044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0A37AD-03E5-454E-928C-CF14AFB7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旧权重与当前接口通过键名适配加载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24A2E-0E44-437D-BFF2-0D0E27E6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完成状态支持本次加载路径，跨实现数值等价性保留为单独校准任务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52E1D-C8C7-4DAF-8070-CBA6BD54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72621-84E9-4116-9BD3-1D59CD4A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运行与兼容性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6DB05-4683-4BD0-89B9-AD5B0B88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14 /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5CF02-237B-478C-A2CD-34312714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76425"/>
            <a:ext cx="5143500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620D6-B877-4751-8E2A-21548341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rPr>
              <a:t>旧 checkpoint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BA009-9298-458E-92E4-62BE3A3D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biohub/esmc-6b-2024-12</a:t>
            </a:r>
          </a:p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revision ffd268e4…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B8EC9-AEBF-43B5-917A-5D945CEE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adapter 覆盖旧 LayerNorm / MLP suffix。安装的 loader 对 missing、unexpected、dropped 条目抛出错误。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F94B4-3C71-497C-9EEE-0858DE99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76425"/>
            <a:ext cx="5600700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2C6E3-A4A2-4DDC-BE0D-D6765328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33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8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28E2B"/>
                </a:solidFill>
                <a:latin typeface="Microsoft YaHei"/>
                <a:ea typeface="Microsoft YaHei"/>
                <a:cs typeface="Microsoft YaHei"/>
              </a:rPr>
              <a:t>需要下一轮校准的接口项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62AFD-57BF-4CDD-A59A-C034CBCE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62225"/>
            <a:ext cx="4762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• 官方输出 numerical parity 基线</a:t>
            </a:r>
          </a:p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• SDPA / pure-PyTorch 与 fused kernel 对照</a:t>
            </a:r>
          </a:p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• 跨实现数值与 MLM baseline 校准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EE9A4C-4388-4394-A58C-A5316DC4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19550"/>
            <a:ext cx="504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config=31 是遗留序列化字段。本次遮挡使用 tokenizer &lt;mask&gt;=32。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0AD35-4728-4BA7-8EF8-46787141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0150"/>
            <a:ext cx="11239500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EA2AB-3178-4C77-915C-227DBBE1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0150"/>
            <a:ext cx="666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solidFill>
              <a:srgbClr val="C6282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EBC06-592B-4F6F-AAEF-EC996A6A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43500"/>
            <a:ext cx="10925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30608E-BBBA-478A-A6BC-F344145F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19725"/>
            <a:ext cx="10925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当前工件记录本实现下的完成运行。它尚未提供与旧 GitHub 实现或当前推荐 checkpoint 的官方数值等价比较。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B9625F-76C8-4F69-B9FA-0492B06B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来源：EVIDENCE_AUDIT.md；run_metadata.json；installed esm 警告与 runner</a:t>
            </a:r>
          </a:p>
        </p:txBody>
      </p:sp>
    </p:spTree>
    <p:extLst>
      <p:ext uri="{BB962C8B-B14F-4D97-AF65-F5344CB8AC3E}">
        <p14:creationId xmlns:p14="http://schemas.microsoft.com/office/powerpoint/2010/main" val="3358057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F71820-D489-4CDD-8C0E-499A8B01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分阶段加载让本次计算容纳于 16GB GPU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3D2C7-D693-4D88-9AC7-32C2039C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两个 6B 阶段顺序运行并释放，第 60 层 SAE 在第二阶段附加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96D07-2A68-4962-B642-62A4C631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95C78-3B82-4AEC-88DF-6E9D810A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运行与兼容性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57438-939D-4B2C-8209-E51879B7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15 /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8DDD6-8732-423E-A4BD-30030E3C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914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D12CB-DF39-4811-9878-7D3529C8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阶段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E5E5D-75AA-46C7-B97E-377F27FC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943100"/>
            <a:ext cx="31432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B4DE3-C16C-4352-BC6D-4BD62C67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943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67221-18DE-436D-88C8-7AC5E9AB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240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rPr>
              <a:t>ESMC 6B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2EEC7-C10D-4813-AC6F-D39F6D05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4288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H 导出 + 238 次遮挡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3A7DA-53AE-4F4F-B6A0-D17C5C24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71700"/>
            <a:ext cx="619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D233C-7F76-4E9C-8371-790CA360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907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BF16 · batch 1 · device_map=auto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F1A42-3655-46DB-9CAB-F04BC509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914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7A3D8-5FE8-4AEA-96D1-C20643B8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释放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F3551-B196-4CFF-94ED-A364EAAF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19400"/>
            <a:ext cx="31432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36F62-2E85-4AD6-B2F3-62877329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194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solidFill>
              <a:srgbClr val="C6282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9E0133-F67B-43E9-B1F7-7AE97319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003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释放 dense 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B4493-4B80-428A-84CD-E68D2208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3051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记录 GPU 状态采样点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F74F1F-2F28-42DE-BFF7-381BCE7E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48000"/>
            <a:ext cx="619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E7D1D2-F362-4006-935E-C615EFCC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67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allocated 9.1 MiB（采样）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11F1B0-7445-4E79-98DA-A52448A9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914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116EE9-61F8-4B57-9F8A-707E99F4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阶段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7B2DF9-7B62-4312-97E3-7017DD49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695700"/>
            <a:ext cx="31432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DAA632-C873-4F29-9A7D-E2222093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6957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2916DC-41DF-460B-95B0-8A40E610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766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fresh ESMC 6B + SAE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0F58D6-1F4B-476D-8F33-A2E6B405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1814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layer 60 稀疏激活导出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4FD3D3-A5CB-44A6-989D-D40BD03E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24300"/>
            <a:ext cx="619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A1B112-D73F-48D7-AFEA-907933F9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433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SAE layer 60 · k=64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760CF0-F458-4CB0-9AC8-CE35FF00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914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B79DC6-FA34-422B-8133-433D2635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28E2B"/>
                </a:solidFill>
                <a:latin typeface="Arial"/>
                <a:ea typeface="Arial"/>
                <a:cs typeface="Arial"/>
              </a:rPr>
              <a:t>完成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AC9D51-2C4A-42FD-8615-307ABBE3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72000"/>
            <a:ext cx="31432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F610FB-0F10-49BC-9939-348FEB85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720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F761B7-8319-4626-A694-63110362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529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8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28E2B"/>
                </a:solidFill>
                <a:latin typeface="Microsoft YaHei"/>
                <a:ea typeface="Microsoft YaHei"/>
                <a:cs typeface="Microsoft YaHei"/>
              </a:rPr>
              <a:t>释放模型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A57541-A93F-4D22-869B-C657701C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0577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保存 CSV、NPZ、metadata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8AD3F6-8DA2-41B6-9C00-70A2E24D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196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A253E0-5689-4225-A4AD-E6707A34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4775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F332D7-2214-4BBF-9E91-D20757C7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768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硬件：RTX 5080 Laptop GPU。allocated 采样为 12,215.5 MiB（11.93 GiB），dense release 后为 9.1 MiB。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055349-3A9F-47D5-B4B4-737DCC69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76900"/>
            <a:ext cx="1000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metadata 记录各阶段显存采样点，页面不将采样点解释为峰值显存。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D0BCF5-E955-426B-9DC3-BDEC1D43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来源：run_metadata.json；run_esmc_site_pipeline.py</a:t>
            </a:r>
          </a:p>
        </p:txBody>
      </p:sp>
    </p:spTree>
    <p:extLst>
      <p:ext uri="{BB962C8B-B14F-4D97-AF65-F5344CB8AC3E}">
        <p14:creationId xmlns:p14="http://schemas.microsoft.com/office/powerpoint/2010/main" val="2333473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5952F0-ABB9-4E09-897E-D2B73F89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每次遮挡只改变一个残基位置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EFD10-3FF2-4249-A443-877C7FD0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单点遮挡保持 token 长度 T 不变，并在该位置读取 20 个标准氨基酸的条件分布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8BD53-5253-4EB3-B27A-06684105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F20C7-3E37-498B-9355-230BC9E8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运行与评分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4807A-B6BB-4746-AD5D-14AD232C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16 /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C760D-D6DD-4D70-97F9-4685CA07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112014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25387-A9F9-44ED-869D-FFB64FFD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526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… V T T F S Y G V Q C 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F7C9B-0688-4854-AC5B-BF223C28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71700"/>
            <a:ext cx="762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B1344-6224-4A0D-B4EF-C32725AD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526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62828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C62828"/>
                </a:solidFill>
                <a:latin typeface="Consolas"/>
                <a:ea typeface="Consolas"/>
                <a:cs typeface="Consolas"/>
              </a:rPr>
              <a:t>… V T T F &lt;mask&gt; Y G V Q C 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D56D9-AB38-429F-AB18-FF27C262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289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示例位置 i。真实运行循环 i = 1…238。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08926-534D-443D-AA6A-FD4E30BC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224790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21378-7531-4879-B990-669624DE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2247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89830-6B77-422B-B3F2-F3CE39ED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1477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保持长度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4B4562-B641-420B-97FD-B5D6924E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219575"/>
            <a:ext cx="1962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T = 240</a:t>
            </a:r>
          </a:p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仅替换 tᵢ 的 input_id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4CA6F-B377-4E3B-A9DB-F6DF7090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10050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E75FD-730D-4949-8BE1-D57C2F34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33800"/>
            <a:ext cx="224790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630A90-C669-44EF-A49E-033CD8E0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33800"/>
            <a:ext cx="2247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BE1470-C115-48B5-9EA1-FD345D4E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1477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8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28E2B"/>
                </a:solidFill>
                <a:latin typeface="Microsoft YaHei"/>
                <a:ea typeface="Microsoft YaHei"/>
                <a:cs typeface="Microsoft YaHei"/>
              </a:rPr>
              <a:t>模型输出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4F51AB-C846-44CB-B8E0-0A959E28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219575"/>
            <a:ext cx="1962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logits at tᵢ</a:t>
            </a:r>
          </a:p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读取 20 个标准 AA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896879-907D-4D98-8511-37ABB801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10050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95771-CB3F-41F2-BAAB-436B2F2D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33800"/>
            <a:ext cx="224790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B4C8D7-6379-4334-89A0-B3EF823B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33800"/>
            <a:ext cx="2247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3D59EC-C2BB-40DD-8475-339CAE60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1477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条件偏好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7075AA-3EDF-4ED0-8525-61BEFD73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219575"/>
            <a:ext cx="1962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mᵢ = logp(aᵢ) − best alternative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22BF5D-C917-4D2B-A4D1-4BA6FE51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10050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F7EB1-218F-4812-A2FB-125F4770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733800"/>
            <a:ext cx="161925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9692B1-C606-4ED0-88A9-8D794997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7338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11F02E-DD28-4575-929C-02203A10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1477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rPr>
              <a:t>辅助量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D09662-D9FB-4625-9EA9-DB526392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219575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entropy</a:t>
            </a:r>
          </a:p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完整 CSV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449E9F-1E8E-46DF-ABEB-D0ABCCA8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1047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当前 tokenizer 的 &lt;mask&gt; ID 为 32。runner 优先读取 tokenizer.mask_token_id。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5E37EF-197A-42FE-8010-992E8C06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来源：run_esmc_site_pipeline.py::masked_residue_scan；normalized_slide_data.json::tokenization</a:t>
            </a:r>
          </a:p>
        </p:txBody>
      </p:sp>
    </p:spTree>
    <p:extLst>
      <p:ext uri="{BB962C8B-B14F-4D97-AF65-F5344CB8AC3E}">
        <p14:creationId xmlns:p14="http://schemas.microsoft.com/office/powerpoint/2010/main" val="9809826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1C18AF-9A3C-481B-9288-EAFAC144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G24 的条件偏好为 0.78125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C379E-97AE-4E4F-B789-7841250A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原残基的条件 log probability 高于所有替代氨基酸中的最佳者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4FD6D-5443-4FBF-84C9-543C00AB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7E65B-E5DF-44F1-8447-49DB15DB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运行与评分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02F80-DBAE-4DFE-A0FE-8E0DBA04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17 /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ACE97-33BF-44BC-B691-6600B4D6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12014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91804-69DA-4A4F-B8FC-83B48350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669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mᵢ = logp(aᵢ) − max_{b∈替代集合} logp(b)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E0DD0-BE04-4750-895F-F71098E7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0"/>
            <a:ext cx="4953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700F3-2FC3-4F08-ADD5-BFBAE2EB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rPr>
              <a:t>G24 的实际 logp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4860D-B3EF-4E03-827A-2F43885F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433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logp(G24) = −1.72166967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1691C-ED00-42B1-AFBC-67D870CA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48000"/>
            <a:ext cx="54483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68EAD-ECAF-44C3-A6C4-769C87E5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95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8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28E2B"/>
                </a:solidFill>
                <a:latin typeface="Microsoft YaHei"/>
                <a:ea typeface="Microsoft YaHei"/>
                <a:cs typeface="Microsoft YaHei"/>
              </a:rPr>
              <a:t>最佳替代氨基酸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CEAD6-C177-4046-B6DF-748A8BE4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9095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K  ·  logp(K) = −2.50291967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3AE60F-8193-4112-809E-F01165D4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00500"/>
            <a:ext cx="819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521F7-E964-4401-94FC-4356B41E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43525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m₂₄ = 0.78125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F79AA1-BC3D-48E7-8FE4-47A30D81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单位是 natural-log margin。该值刻画遮挡后模型对原残基的相对偏好。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B1D25D-F2B1-438A-A640-DA8F1587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来源：candidate_sites_all.csv，position 24；EVIDENCE_AUDIT.md</a:t>
            </a:r>
          </a:p>
        </p:txBody>
      </p:sp>
    </p:spTree>
    <p:extLst>
      <p:ext uri="{BB962C8B-B14F-4D97-AF65-F5344CB8AC3E}">
        <p14:creationId xmlns:p14="http://schemas.microsoft.com/office/powerpoint/2010/main" val="14254383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F32569-2F0B-4BED-AEF5-C9C00D50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局部新颖度比较残基与两侧邻居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6E8DC-D6E4-404C-8E7C-2455EF29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nᵢ 使用上下文向量与窗口均值的余弦距离，G24 的 n₂₄ 为 0.1674523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0F682-5F48-4B92-B4C8-2B5A61A8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B201A-CD4C-4173-89FF-EB74A84E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运行与评分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3E39C-8597-42F3-93D5-C1C9D106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18 /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183C8-2250-4C66-AAFB-DC2152E0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47850"/>
            <a:ext cx="66675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7286F-A4E9-440B-9DE9-92033993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76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rPr>
              <a:t>示意二维投影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0BA9-E466-4AE8-89FF-0C8FB01B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386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96181-608D-4068-BD27-1E1DC4AF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71750"/>
            <a:ext cx="0" cy="1866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4665D-EFB3-4DCA-A02E-D6F6F348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43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456A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CD788-5719-45B7-9C14-FE97E01A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456A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B7180-BD6B-4386-8997-120F21A8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456A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611F99-E4AC-46E9-B68A-24AACA51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05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456A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ED240-B9BF-4B10-9397-BCCBE44A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48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456A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51E60D-29B8-4355-9EA7-611F7B95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19050">
            <a:solidFill>
              <a:srgbClr val="F28E2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120B1F-373C-497E-A07E-7CCF63BA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575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h₂₄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9BB3FF-D598-4053-852D-8896F41B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57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邻域 hⱼ（示意）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16C5A7-FB6E-48A1-B83D-1A6A49DC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47850"/>
            <a:ext cx="41910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3DC8A9-6D57-4192-8DD4-76E17C0C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66950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nᵢ = 1 − cos(hᵢ, mean neighbors)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022428-1A45-4A56-8800-87BF2BDF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3619500" cy="790575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671956-AF0A-49E5-9C8E-6C7934D7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666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A8AA79-E556-40AD-9339-BA8EF60C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990850"/>
            <a:ext cx="3305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窗口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91392-3421-45A9-9738-CADD091D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267075"/>
            <a:ext cx="3305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±5 个邻居，边界位置使用可用的截断窗口。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758C74-A7A3-406C-B0A0-BFCED20E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9525"/>
            <a:ext cx="3619500" cy="790575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E06C29-AE0D-4DDA-9680-BFD49A9E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9525"/>
            <a:ext cx="666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A6D7E8-5CB7-47E1-8A5B-0D325357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952875"/>
            <a:ext cx="3305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数值含义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348736-05FD-4A3C-9233-01F705AA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229100"/>
            <a:ext cx="3305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999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cos=1 时 n=0。cos=0 时 n=1。G24 的 n=0.1674523。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9CEAFA-2E8B-4B76-89D2-347A7178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示意图只解释计算关系，不代表真实高维 h 的二维投影。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30DCA2-FA57-45CA-B9EA-029F0C1B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来源：candidate_sites_all.csv；run_esmc_site_pipeline.py::local_contextual_novelty</a:t>
            </a:r>
          </a:p>
        </p:txBody>
      </p:sp>
    </p:spTree>
    <p:extLst>
      <p:ext uri="{BB962C8B-B14F-4D97-AF65-F5344CB8AC3E}">
        <p14:creationId xmlns:p14="http://schemas.microsoft.com/office/powerpoint/2010/main" val="2499301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0D7EE1-DD10-43B2-816A-EA9CAF01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综合评分保留两个分量与标准化规则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BE2DB-6911-45E8-B760-4EBC9F53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sᵢ 将裁剪后的条件偏好与局部新颖度按 0.7 / 0.3 合成，仅用于本蛋白候选排序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64138-1365-45C5-999B-45441DB6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30597-82FB-4F04-B95E-02992340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运行与评分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866F4-C9BA-45FE-BDFC-C417519A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19 /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E01E1-E604-4B35-8272-82717950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19275"/>
            <a:ext cx="11239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113CE-A902-4EB4-956F-ADFB9F4C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sᵢ = 0.7 · z(max(mᵢ, 0)) + 0.3 · z(nᵢ)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73CCA-9576-477D-A088-4648D457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38475"/>
            <a:ext cx="3371850" cy="179070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1282D-E932-4515-9CE3-9997CB58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38475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EACD4-A240-4D43-8EAD-F8258BEF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71825"/>
            <a:ext cx="30575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条件偏好分量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A5D04-8642-4676-BCFB-5A2701AB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48050"/>
            <a:ext cx="30575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28 个正 margin，210 个负 margin。裁剪后 median=0、MAD=0，因此 z 使用标准差回退。selected scale=0.2061997034。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06D07-64CD-4831-B78C-CFAB344E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38475"/>
            <a:ext cx="3371850" cy="179070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3D9D4-8316-41CD-A219-57A61B91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38475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0F32A-43A1-4099-A2B0-BE73BB71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171825"/>
            <a:ext cx="30575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新颖度分量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601E7-DC90-49EE-AFA1-F0DF4A90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448050"/>
            <a:ext cx="30575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n 使用 MAD scale=0.0270947251。210 个负 margin 裁剪后 z=0，相对顺序完全由新颖度项决定。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D9165-F770-4B32-BDEE-7B06577A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38475"/>
            <a:ext cx="3848100" cy="179070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C5453D-1365-41F0-862A-5EE07452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38475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751ABA-B796-4408-8282-74CF5771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171825"/>
            <a:ext cx="35337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排名用途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181D76-08BE-4AE4-A9B1-26D631BB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448050"/>
            <a:ext cx="35337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权重 0.7 / 0.3 是初始启发设置。当前排名仅由条件偏好和新颖度计算，SAE 用于事后解释。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7646F-07E6-4E90-B3AD-9A64CB99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0175"/>
            <a:ext cx="100965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C1A172-BD2E-4556-ADEE-67E9DDA1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625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z(u) = (u − median) / scale。MAD 退化时 runner 选择 std 作为 scale。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411E99-EB5D-48AA-A3C2-BA687A9E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来源：normalized_slide_data.json::score_data.statistics；run_esmc_site_pipeline.py::robust_z</a:t>
            </a:r>
          </a:p>
        </p:txBody>
      </p:sp>
    </p:spTree>
    <p:extLst>
      <p:ext uri="{BB962C8B-B14F-4D97-AF65-F5344CB8AC3E}">
        <p14:creationId xmlns:p14="http://schemas.microsoft.com/office/powerpoint/2010/main" val="2318207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A00CCA-C25C-40C2-89B5-894303B9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全长曲线显示候选信号集中位置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CA9E7-1C08-4117-A0A4-E78C672C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238 个位置的综合分数保留完整纵轴，端点 M1 与内部候选共同可见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8922C-C921-43B7-A5B4-60E32853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D95C4-69FF-4918-9A32-2A9B238B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候选排名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C0C72-6628-47FF-ACE8-ECE591A4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20 / 34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476250" y="1847850"/>
          <a:ext xmlns:a="http://schemas.openxmlformats.org/drawingml/2006/main" cx="742950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c91113e08a4b3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726ED-CB6F-4F1A-A8DE-16A547CC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AA453-93D3-457E-B5FA-711C9EEC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54355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62828"/>
                </a:solidFill>
                <a:latin typeface="Arial"/>
                <a:ea typeface="Arial"/>
                <a:cs typeface="Arial"/>
              </a:rPr>
              <a:t>65–67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511E1-78CA-48CA-8F8F-BCFF731E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5435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238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DBDE8-F58E-4F08-B809-3DA0C3FA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19725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solidFill>
              <a:srgbClr val="C6282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294C7-10EC-4601-B5A0-93EF6A79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1025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FASTA position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FD2F4-5EC7-4A24-8F7C-2FC3D1FB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47850"/>
            <a:ext cx="3467100" cy="1114425"/>
          </a:xfrm>
          <a:prstGeom xmlns:a="http://schemas.openxmlformats.org/drawingml/2006/main" prst="roundRect">
            <a:avLst>
              <a:gd name="adj" fmla="val 854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0A3D7-3B5A-4F84-A5DD-6CC9C029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47850"/>
            <a:ext cx="6667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34440-2FAF-4D95-A242-F3B59EFE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981200"/>
            <a:ext cx="31527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最高端点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CF1FB-2E2F-42CB-9604-2FBC0243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257425"/>
            <a:ext cx="3152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M1 = 10.985。起始位置的高分需要单独做端点敏感性检查。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AF76C-A364-4C11-9C7D-050BB0E7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62300"/>
            <a:ext cx="3467100" cy="1114425"/>
          </a:xfrm>
          <a:prstGeom xmlns:a="http://schemas.openxmlformats.org/drawingml/2006/main" prst="roundRect">
            <a:avLst>
              <a:gd name="adj" fmla="val 854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276E8-E177-46CF-9ED6-2701B8E9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62300"/>
            <a:ext cx="6667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387B66-0DD2-4B30-80BB-74D12AC2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295650"/>
            <a:ext cx="31527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内部候选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9B74C4-43C7-4F81-8432-A4340F74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71875"/>
            <a:ext cx="3152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G24 = 3.423，是内部位点中排名最高的候选。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E010EB-B2B7-4E2F-B990-EC57ABD9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76750"/>
            <a:ext cx="3467100" cy="1114425"/>
          </a:xfrm>
          <a:prstGeom xmlns:a="http://schemas.openxmlformats.org/drawingml/2006/main" prst="roundRect">
            <a:avLst>
              <a:gd name="adj" fmla="val 8547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33626D-8A83-4972-9A7F-1B1D466E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76750"/>
            <a:ext cx="6667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4EB668-8737-40BF-BFA0-D07E958A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610100"/>
            <a:ext cx="31527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读图边界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9A312E-C277-4E06-B1DF-34BCC49B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886325"/>
            <a:ext cx="3152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曲线来自单蛋白与当前权重设置。它展示候选分布，功能判断需独立证据。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584B93-A789-4B57-8401-0526BE4E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来源：normalized_slide_data.json::score_data.p20_score_series；candidate_sites_all.csv</a:t>
            </a:r>
          </a:p>
        </p:txBody>
      </p:sp>
    </p:spTree>
    <p:extLst>
      <p:ext uri="{BB962C8B-B14F-4D97-AF65-F5344CB8AC3E}">
        <p14:creationId xmlns:p14="http://schemas.microsoft.com/office/powerpoint/2010/main" val="9664403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827FEE-D249-4555-8DE5-744DF45C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前十名由 M1 和多个内部残基组成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F98A6-6C8B-41D4-84AA-55765E75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Top10 保留 rank、位点、条件偏好、局部新颖度和综合分数的精确三位小数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70114-9267-4AE2-B80D-2080296E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D8E29-8DFF-451A-8491-FB9B1A97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候选排名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831CA-9F8E-4B16-92E1-F362D68D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21 / 34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476250" y="1809750"/>
          <a:ext xmlns:a="http://schemas.openxmlformats.org/drawingml/2006/main" cx="8096250" cy="3838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1381125"/>
                <a:gridCol w="1762125"/>
                <a:gridCol w="1762125"/>
                <a:gridCol w="2143125"/>
              </a:tblGrid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rank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site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margin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novelty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score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M1</a:t>
                      </a:r>
                    </a:p>
                  </a:txBody>
                  <a:tcPr marL="91440" marR="91440" marT="45720" marB="45720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10.985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G24</a:t>
                      </a:r>
                    </a:p>
                  </a:txBody>
                  <a:tcPr marL="91440" marR="91440" marT="45720" marB="4572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0.781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3.423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2.482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0.559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0.135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G91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0.461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0.127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0.344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0.141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L195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0.359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1.409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G174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0.336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18168-33F6-420B-8CA7-945DA2F6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800350" cy="1152525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963F1-AC97-410A-AB38-89186F90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6667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3E816-4DF9-450F-88ED-2B4FCB5C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943100"/>
            <a:ext cx="2486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C6D70-83DB-4F34-9D92-626EDE86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219325"/>
            <a:ext cx="24860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10.985。最高端点候选保留在全表，并单独检查端点信号。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F4788-FE1C-482F-8C55-8D1D3FEC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90875"/>
            <a:ext cx="2800350" cy="1152525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085C1-3258-4E55-84E0-9C008F23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90875"/>
            <a:ext cx="6667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90BB3-089E-458C-B58E-BE2B0A46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324225"/>
            <a:ext cx="2486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G24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B6BD9C-F46D-4D3F-93EF-2BD22F83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00450"/>
            <a:ext cx="24860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3.423。当前内部最高候选。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CCA0D-6C1A-4826-BB01-5A47144E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72000"/>
            <a:ext cx="2800350" cy="1152525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0A9E9-F7FF-4E52-BC48-E7DB534C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72000"/>
            <a:ext cx="6667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ED99DC-B989-4D6B-BBC9-6CBE63BA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705350"/>
            <a:ext cx="2486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排序范围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B0ED08-9275-41BA-AE20-0B61E4DC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981575"/>
            <a:ext cx="24860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每一行来自 238 位置完整筛查。rank 是顺序指标。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EB44E-4F7B-416B-A64C-5BA6D179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来源：normalized_slide_data.json::score_data.p21_top10；candidate_sites_all.csv</a:t>
            </a:r>
          </a:p>
        </p:txBody>
      </p:sp>
    </p:spTree>
    <p:extLst>
      <p:ext uri="{BB962C8B-B14F-4D97-AF65-F5344CB8AC3E}">
        <p14:creationId xmlns:p14="http://schemas.microsoft.com/office/powerpoint/2010/main" val="2738112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AD62E0-EF65-4D57-8915-441C58D9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M1 的高分提示端点信号需要单独检查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06549-D782-440F-B7D6-511EAE85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原始排序保留 M1，同时将去除端点和更换窗口列为后续敏感性分析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DA810-932A-4DDA-9897-8E25B4A2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0E563-5847-4AE5-B02C-34B4ADEF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候选排名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6358D-C9A6-4847-9E88-27A60FEF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22 / 34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76250" y="1905000"/>
          <a:ext xmlns:a="http://schemas.openxmlformats.org/drawingml/2006/main" cx="6953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f2a77602b24b7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12C79-D508-4DED-9810-B60D3D98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05000"/>
            <a:ext cx="39052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3B537-D56B-4F61-B721-45BF7E41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050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1A15A-6ABC-4E3F-B119-58B0D753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038350"/>
            <a:ext cx="3590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FA4ED-2EA8-4AC5-9EE5-B485BCE1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314575"/>
            <a:ext cx="35909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M1 是起始甲硫氨酸，分数显著高于内部候选。当前图保留原始计算结果。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DA6DB-322C-40EB-B6B4-B4E2C635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0"/>
            <a:ext cx="39052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0B0E8-F200-4A57-B451-8228353E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ED23D-AA60-447A-9C46-4E002670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67100"/>
            <a:ext cx="3590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DC845-F631-4534-B723-EC6DE581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743325"/>
            <a:ext cx="35909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去除端点、改变 novelty window 与比较更多蛋白可检验排名敏感性。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6038DC-D3FE-4FF0-8232-B0CE3F0E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3905250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9CE570-98D8-44C5-A29E-7E2657B1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666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solidFill>
              <a:srgbClr val="C6282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686651-E1A9-4C22-8DC1-A76A955F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95850"/>
            <a:ext cx="3590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09C9B-6086-49C6-8BE4-E1CA3301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172075"/>
            <a:ext cx="3590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当前工件未执行这些敏感性分析。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AC156A-F454-46B0-9E84-6286DC96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来源：normalized_slide_data.json::score_data.p22_bars；candidate_sites_all.csv</a:t>
            </a:r>
          </a:p>
        </p:txBody>
      </p:sp>
    </p:spTree>
    <p:extLst>
      <p:ext uri="{BB962C8B-B14F-4D97-AF65-F5344CB8AC3E}">
        <p14:creationId xmlns:p14="http://schemas.microsoft.com/office/powerpoint/2010/main" val="20062522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119F84-E1C9-479A-9E18-94B34CB4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已知发色团残基位于排名后段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F1938-638B-4398-8445-CB4BF97D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同一 238 位点筛查中，G24 排名第 2，S65–Y66–G67 分别位于后段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0BBCE-3CF4-40CE-B678-959B5E43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B3632-3B68-467C-821B-616D8528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候选排名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91D2F-0D13-46E8-B567-AC31015A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23 / 34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76250" y="1828800"/>
          <a:ext xmlns:a="http://schemas.openxmlformats.org/drawingml/2006/main" cx="6667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69608252084f7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782D0-34F4-4045-81DA-BB87D4CD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28800"/>
            <a:ext cx="4305300" cy="17526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F9F7B-4F9A-47F2-8442-9CAB28FA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28800"/>
            <a:ext cx="666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solidFill>
              <a:srgbClr val="C6282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BC153-27B4-4B19-AB23-9D602D06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962150"/>
            <a:ext cx="3990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控制位点的读法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4F0FC-C3B6-487A-95EF-A180098E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238375"/>
            <a:ext cx="399097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S65–Y66–G67 是 GFP 发色团形成相关的已知残基。它们的 rank 分别为 225、223、211。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9C3E7-8C4E-48E0-BE64-12EC3403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90950"/>
            <a:ext cx="4305300" cy="17526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3699D-7BC8-4F0B-A69C-F030E6B2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90950"/>
            <a:ext cx="666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C769A-C6A6-4F28-B6BF-B9136FD3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924300"/>
            <a:ext cx="3990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结论边界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F64406-9F07-4DBB-93F8-A60F8FA2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200525"/>
            <a:ext cx="399097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排名是本蛋白、当前窗口与权重设置下的顺序指标。功能判断需要独立实验、基准对照或多蛋白校准数据。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C0E58-AEB0-46D6-B893-4898194E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34050"/>
            <a:ext cx="6057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蓝色标出内部高位候选 G24。红色标出三个位于后段的发色团相关位点。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2A0367-5783-442E-9A43-A729BCD6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来源：normalized_slide_data.json::score_data.p23_rank_comparison；UniProt P42212；RCSB PDB 1EMA</a:t>
            </a:r>
          </a:p>
        </p:txBody>
      </p:sp>
    </p:spTree>
    <p:extLst>
      <p:ext uri="{BB962C8B-B14F-4D97-AF65-F5344CB8AC3E}">
        <p14:creationId xmlns:p14="http://schemas.microsoft.com/office/powerpoint/2010/main" val="6244536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866965-0E61-499E-B40B-60050981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SAE 将第60层向量编码为稀疏特征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AC857-3F6E-48BF-9C2E-69C10A58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每条 2560 维输入向量即时标准化后，经编码、ReLU 与 TopK 产生 64 个保留特征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B6C1F-A367-4A81-AA3D-9BBCB264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81BF8-50E6-466C-BE45-8E869F86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SAE 解释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479EA-6206-4FBE-8955-1ADB4BE7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24 /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46435-DF10-4EC8-AFBF-A26E67FE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24100"/>
            <a:ext cx="1971675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DCD7E-781D-4271-97AC-5EEF7482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24100"/>
            <a:ext cx="1971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82751-7EBC-496D-8951-22DF9109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505075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h₆₀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F26C6-C607-45C4-9C8B-BD90A78E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1685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1 × 2560</a:t>
            </a:r>
          </a:p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中间 residual stream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8768E0-1912-4E80-9F17-19AA8B54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3845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ADA46-E0E2-4FF4-805B-FEF3008F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24100"/>
            <a:ext cx="1971675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56EDC-160C-44C4-8F58-4EAE78EB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24100"/>
            <a:ext cx="1971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6F1E9-CA46-4808-90BF-FC9E4B3A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05075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即时 z-score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5EFEE3-1D5E-4683-A41E-7BFF35CF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09875"/>
            <a:ext cx="1685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按该向量末维</a:t>
            </a:r>
          </a:p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mean / std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C1594-A6A4-4167-8DDE-FF686076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83845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424126-F13F-44E2-B1F9-6FB52E4A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324100"/>
            <a:ext cx="1971675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E6384-8D3D-49A8-9614-9DC04055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324100"/>
            <a:ext cx="1971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227B93-055D-4755-A71F-88A36FC2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505075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encoder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E17C50-E51C-440B-A2C9-28C6970E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09875"/>
            <a:ext cx="1685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x − b_dec</a:t>
            </a:r>
          </a:p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W_enc: 2560×16384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8DC2CC-719C-412B-A9CC-6A171F08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3845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2CFE6B-6D02-47AE-8A22-2A5D1012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24100"/>
            <a:ext cx="1971675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C66A5-6211-4D93-912A-5D3D134B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24100"/>
            <a:ext cx="1971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839968-FD39-413F-9893-95E3B58E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05075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ReLU + TopK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20FAEC-BC69-4612-8A79-0C990C31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09875"/>
            <a:ext cx="1685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feature last dim</a:t>
            </a:r>
          </a:p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k=64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258444-6C30-447E-AFEF-8A4E6695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3845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187432-AE0B-49A4-B8D7-F1C6873B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24100"/>
            <a:ext cx="1971675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9F30F9-E3E6-439F-AE69-F3D9248B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24100"/>
            <a:ext cx="1971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A1940A-35A7-4D9B-AB32-820B9D46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505075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decoder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A4D9C0-EA40-4F16-9B3A-7B19F69E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1685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W_dec: 16384×2560</a:t>
            </a:r>
          </a:p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+b_dec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8AFB0F-0C66-474B-9B97-5402B7BF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10287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BB37F7-7E86-45BB-855F-F8203563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76750"/>
            <a:ext cx="571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h̃ = (h − mean(h)) / (std(h) + ε)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4430DF-DC7C-4A78-B0D9-32EFEE53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7680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get_sae_output：240×16384 sparse output（含 &lt;cls&gt;、&lt;eos&gt;）→ runner 筛选 238 个 residue rows。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445611-1D01-46B5-9917-918D5708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81600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W_enc、W_dec 与 b_dec 由 SAE 训练得到。b_enc 未出现。raw activation 导出，optional IDF/max normalization 默认关闭。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6DAC90-5CBD-4AA7-B821-777449BB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来源：normalized_slide_data.json::sae_data；官方 sae.py 审计；run_metadata.json</a:t>
            </a:r>
          </a:p>
        </p:txBody>
      </p:sp>
    </p:spTree>
    <p:extLst>
      <p:ext uri="{BB962C8B-B14F-4D97-AF65-F5344CB8AC3E}">
        <p14:creationId xmlns:p14="http://schemas.microsoft.com/office/powerpoint/2010/main" val="6194898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08963FCA-4343-42C7-9023-E8460362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每个残基保留 64 个非零 SAE 激活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14D45-452A-4B9E-BA70-08E04EA6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240 个 nonpadding token 先经 SAE，runner 导出 238 个 residue row 的 238 × 64 条激活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7253C-A3C0-49B5-BD2D-997EF6DA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6FFED-7940-4314-B5BC-CB9697BB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SAE 解释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F206E-9C7A-4FAA-9926-B75DB9C0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25 /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07FBB-69DA-48FD-83EA-D94D63A6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790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rPr>
              <a:t>玩具 6×12 局部列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E6092-C039-4A71-9D5C-BB1A3B62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762125"/>
            <a:ext cx="11049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AE9D9-A26E-4E4C-9570-7E130D09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192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28E2B"/>
                </a:solidFill>
                <a:latin typeface="Arial"/>
                <a:ea typeface="Arial"/>
                <a:cs typeface="Arial"/>
              </a:rPr>
              <a:t>玩具数值例子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D6697-5813-421D-BC02-1BE5EA82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343150"/>
            <a:ext cx="43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pos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F32D9-DD3D-47B8-98F5-C9B36776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288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5F423-1417-42C3-A6AC-49D4F87B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717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23A9A-2083-42FA-874C-9BE2EBE5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F5CA3-1B83-4A48-92BF-E676732C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717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278F5-E5EA-4BA1-831E-3C1112C8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2288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38982-EE9B-4612-A2B1-B5444328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2717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2AFFE-1972-4762-9367-9CB7A306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288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FDFD4-6BAD-41A4-ADB2-63CEF25F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717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DB5D85-44FB-4B57-BD37-FF8CE2A2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2288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4AD869-2BFB-4DCF-B213-454EBD2E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2717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FEC004-A463-475C-AC51-191DF112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288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806E81-A9C9-4F83-B33D-74ACA765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717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6412DD-8E64-4E99-82B8-59416742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2288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DBABE1-06DF-4623-9FF0-BEFEBF9B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2717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7C223E-B9BC-43E2-A6DE-1AE8CACA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288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5E982A-9689-4194-99FE-1B7771EF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717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C476BC-1A3D-456F-A860-C615EE34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2288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76D18D-5DD0-4F85-A358-FAD2203D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2717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705C8C-7507-4A49-9A7C-4E82B5F8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288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151D87-C365-4BED-BB4F-8147FD03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717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DEA07D-6388-47D2-9F79-A968C278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DB23ED-A6C5-41CF-80E5-4BD819E5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717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305685-E481-47E1-A5C9-0F4DF72A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288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C0A4DA-F12D-45C6-8BCD-68B32570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717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A2B01A-5188-48AD-9D8F-131B6C4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743200"/>
            <a:ext cx="43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pos 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3822DD-A1BC-4E76-BDE9-2DA412E8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289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681DA7-57D0-4581-BD0F-A55C4EFF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717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599085-9092-4D23-8D84-2C41CA5E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1A8C8B-7076-4853-A904-141A8D47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717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947290-EB8E-443D-B1EB-97C1E2DF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289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2C41F5-6542-4E7D-AE15-887E1410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717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F32FFB-7099-4818-A26C-AD82D49C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6289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689569-4BEE-4490-90CB-D108A7D7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6717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8CB040-3BB5-41A1-896B-4B0EF1C1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6289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5E096C-5A68-49F8-A984-AEFAEFDE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6717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7696A9-0991-4035-A1BD-F7087D94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289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6D3B90-354E-4F28-84EB-4A5D395F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717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92F9F5-3718-45EE-B6E8-BA17F64D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6289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0528D6-087E-4D7C-A42F-0AFFCAFC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6717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C46F08-BC6F-46D8-834E-35B43E18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289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7C5E8A-7562-467E-AE58-098597EF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717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•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6DBA77-BD37-4F19-8D83-3ADCB65E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6289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D39896-6B25-47DE-BCAE-6F78C42B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6717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9795D0-DBFC-4DE2-A683-7356DC64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289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22B455-E775-4499-BF4F-9CB98E40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717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DDFA35-5902-40E1-A03D-BB893EE1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289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5B5F26-37B5-4AA9-B6DC-3F623FB6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717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193E90-13CE-452E-B2DF-4D55ED1A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289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4D4B718-89A5-4374-9978-20877578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717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3A327A-5241-4E1E-BCB1-95708F43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143250"/>
            <a:ext cx="43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pos 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917A084-5B31-48E1-ADF8-56E662BA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289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51DCC8C-8863-4799-89C3-6E8760C8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718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A48FF7-AA47-41BF-9EB9-2C67660A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289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69C8594-CC03-43B2-B0C6-86D68FAB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718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2C22D93-C5D2-4BEA-8945-57C05FFA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0289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D6E21C0-CF89-44CD-AEB6-EF8AC171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0718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7A4C2D9-3D8D-4E9F-B038-D17CD3EF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289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81455AB-8D40-4A0B-8531-43C9ED0A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718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FB611CB-4340-4EA2-B083-60A12AEC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0289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C479EAB-A95E-4B95-9A7F-685A7DB2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0718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•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83DC8AF-B26A-4110-AEE5-9F14558D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289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070966A-146E-4FF5-B025-3B5A3645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718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4DD0171-3ACB-4FC6-9DE2-5B305AD7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0289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177A7AE-9205-4157-8E28-E3C5F867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0718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F1AA8A1-A649-4864-B1A7-0F8A83A1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289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1D55E4B-0F88-4DF1-BCFF-CB13D5D1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718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45DA8AD-6469-4487-BD98-C9121EF3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0289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2B7194C-A03E-4570-8E04-CA5C5DA9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0718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6C0143E-9669-4BB4-9D3F-61079C86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49CE81A-4D31-4BC3-B6D1-FD987AB7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718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•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BD56562-3E44-4F4C-87DB-794B14EA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289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CCAC758-65E5-42DF-900F-5B47D56E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718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19E0B9C-C558-4DEF-A846-06EC76F7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289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41D2370-C237-43C3-98FF-6D554813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718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C159EA2-65CC-4BF7-B07B-22351405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543300"/>
            <a:ext cx="43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pos 4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B164686-EC66-4750-83FB-98F3D4EC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D11FBFE-821C-4DEC-9BAD-33C4C380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18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24471AC-1F0A-4C2D-AACF-4365708A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46A5238-B57A-484E-A651-A67FABF2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718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30962E9-A681-4458-A46A-EF8DE95C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4290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25726B4-B4D7-4775-BFDF-106E6C74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4718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6FCF69D-DCBA-48D7-960B-3997C9E2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290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50D19C8-CBA7-467E-AC9C-2AEE0FDC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718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B945E12-FBAC-4BE0-9D70-2767B6E7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4290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F541CA4-D967-4461-AE37-41FC1786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4718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BEF9970-3CB4-4B12-9971-15DEC3EC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290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C49FAC9-28A4-44E0-9858-BC379E9D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718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9804408-1A8B-4343-883D-F5372401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4290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9B4E33E-0486-421B-B28C-6CC6E7CE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4718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605C074-2DA9-48C6-BD45-2A9905F8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290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C6CFE76-7494-4E0C-AFA3-14FD9384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718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AD85729-B9EC-45EC-9695-00FE1CC3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4290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4CAD9CF-EF45-46A5-BE43-91634E11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4718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278F4FA-0B69-4F04-A40A-F13BDED8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290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1E6F9C4-5B5C-477E-A1D1-67CE58F7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718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57C9829-F723-4D49-8AB5-675AC6C7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290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C9B6638-D915-4856-9F7E-9EC53635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718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C4974B1-05E5-42EF-85A0-F8168A2B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290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E91F31A-784A-4969-9433-B87B5F76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718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•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36B6737-7978-4B3C-9A6C-4989E538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943350"/>
            <a:ext cx="43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pos 5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6493693-A4F9-4488-BEBE-BEE0B9FD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290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2DF6FAA-7A83-4923-9936-FB0B7276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719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6FC16C8-7DD2-48CE-AA33-36416FCE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1282A1E-F53F-442B-B3B7-1E77C3B4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719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•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61D9F80-F2DF-4BE2-B05A-EE95B071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8290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F0ABE52-56F1-40D4-B3F4-4BE5092D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8719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B48A7D6-29EB-4971-9878-8297E8D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8290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CE89EAD-2BE7-4370-B9D2-3EA9FFB6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8719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7A35318-B65D-4CE9-9393-0B00587C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8290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336282B-637B-4FCF-9800-AB0F57B7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8719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3C0451A-F158-4E8C-9EFE-8CC68C3B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290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A18676E-6C4B-4C71-AB73-28A19CF9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719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ABBDB71-3CE8-4140-8729-D0A603CA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8290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CCCA789-7E00-4060-84AF-27D1E979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8719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827D6D1-C124-4683-A5CF-A8845E45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290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8F886CB-12D4-479E-B34E-8DA1A0FA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719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4F4E2C6-4D90-41D7-B819-3017BEA2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8290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600993-64F3-4E29-95B0-C2046E7F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8719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•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DF8EA80-1E13-472D-B1BF-81F309D0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290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2A3AB68-8101-4713-920E-109577BB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719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BBA3389-0DFD-42BE-838B-0E34D7BC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290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A333705-937C-44C1-91A4-367C2851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719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EC9CB22-D2FF-42BF-867C-2079916E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2905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D204603-F8AA-4904-A046-FE850140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7191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ABF2EAF-429A-40F8-ABC8-81FAE77F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343400"/>
            <a:ext cx="43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pos 6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E74541F-5E22-44D0-B1BD-4524165E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291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E406071-911E-48F2-AD0A-63736BB2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719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9FCD51F-764C-4F7C-9B2D-E9CB9E07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B594AF6-52BF-4AD2-AED0-5FCD81FC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719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F940E02-0E82-4AC1-B260-27EBB8AD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2291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616DBB1-4399-4D51-8726-3D3122F6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2719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B78B753-8230-4958-B7EA-D5C4013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291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318F084-2570-4299-936C-2373A2F9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719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•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A83D153-1ABB-4171-A4D8-7B4BB24C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2291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544C765-1891-4858-B963-1741EA4A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2719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352CEAF-B675-47C8-BE8D-8C910579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291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D973669-1374-4103-94E5-96BF06C8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719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F828B89-4914-4ABB-B015-8FB55BDA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2291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A9483CB-7F62-4A51-8D6F-C4E0A8FF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2719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6059DE8-C99E-40B6-8358-E2AD9A9F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291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E0AD135-1826-46FF-BC03-1B0AA3AA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719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66D7888-EEA0-4EAF-A2BD-50681C76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2291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6309A0AD-4373-4F63-B6B4-95AE2AEE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2719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E1012A0-4A85-4878-BCF5-F08FF3BC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291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E485CA0-710D-490F-947D-3C7D5A8F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719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20F3152-EB95-4AE9-B0AB-8F13E949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2291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7FE135E-3279-4680-87C2-DA58D5BC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2719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•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A8EA21D-2DD7-45DC-8A6E-C5BD2830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29100"/>
            <a:ext cx="304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CE252E6-EF3C-4852-9940-B87BCC93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71963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A88A393-A648-4A13-88F4-5C9A5FC5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91075"/>
            <a:ext cx="2476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示例 k_demo = 2 / row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1C9B35A-6843-4101-BBB2-6149CE8C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5810250" cy="3076575"/>
          </a:xfrm>
          <a:prstGeom xmlns:a="http://schemas.openxmlformats.org/drawingml/2006/main" prst="roundRect">
            <a:avLst>
              <a:gd name="adj" fmla="val 3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F5C2EFE-9853-4571-B40E-71AE3972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1619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BEB38A1-86FE-43B0-8FE6-301FE91F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238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AFAACE7-6063-4579-8E80-EBD7D10C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670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residue rows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B6BE4D1-CB02-4BC7-8D19-B29F183E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9565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FASTA positions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B9AD6E7-AC3E-4AFC-BC92-5693740F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1619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2EC539F7-EC23-485C-8D46-91A7B49F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51D964C-C0AF-48AA-BCF9-72F5D803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0670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real k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56A3C6F-5095-4D58-8B34-43B2F3AD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29565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每残基保留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0E2AC74-C849-4278-8087-0BB3449B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81250"/>
            <a:ext cx="152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9AE7D4C3-557E-417E-97C0-399B9C74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8E2B"/>
                </a:solidFill>
                <a:latin typeface="Arial"/>
                <a:ea typeface="Arial"/>
                <a:cs typeface="Arial"/>
              </a:rPr>
              <a:t>16,384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546F016A-856B-4B88-B26F-AAFA81A5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670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K codebook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CA3388A-CCE4-4D4A-B3DB-686DBA32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95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feature IDs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4C510FE6-5AE4-4EC0-BA24-0404ED8B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runner 导出：238 × 64 = 15,232 条 activation。活跃 feature ID 数量为 1,134。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33378FC1-2EE0-4DF1-92E5-5209436D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529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玩具矩阵只展示 12 个局部列。真实 codebook 有 16,384 列。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F0590F6-16A5-49D1-A1E2-4E1D9052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10299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D3E3729E-8DC7-4476-B225-2750856E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AEA87D20-DF65-43B6-93AD-0660946D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353050"/>
            <a:ext cx="10715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术语区分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EA74B16B-1F6B-443F-8540-FB5F14A4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629275"/>
            <a:ext cx="10715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k=64 是每个残基的稀疏度。1,134 是本次 238 个残基中出现过的不同 feature ID 数量。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E24AE57-7AB8-4A80-B1E7-020E7530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来源：normalized_slide_data.json::sae_data；sae_residue_activations.csv</a:t>
            </a:r>
          </a:p>
        </p:txBody>
      </p:sp>
    </p:spTree>
    <p:extLst>
      <p:ext uri="{BB962C8B-B14F-4D97-AF65-F5344CB8AC3E}">
        <p14:creationId xmlns:p14="http://schemas.microsoft.com/office/powerpoint/2010/main" val="152456754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1244E7-3B97-4B68-87EF-C590600F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特征编号把激活表连接到描述来源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1BD95-1ACA-473C-A231-BE115A23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position × feature_id × activation 与 feature_id 描述表 join，形成可追踪的解释入口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4BE87-A989-41CA-BA78-946A2971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EA520-DC85-49D0-941B-9274BB22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SAE 解释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00502-B26C-4694-9D3F-D9AC690B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26 / 34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476250" y="1962150"/>
          <a:ext xmlns:a="http://schemas.openxmlformats.org/drawingml/2006/main" cx="6143625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90625"/>
                <a:gridCol w="1476375"/>
                <a:gridCol w="1428750"/>
                <a:gridCol w="2047875"/>
              </a:tblGrid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激活表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position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残基位置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激活表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feature_id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13094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SAE 词典索引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激活表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activation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4.6875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 raw 激活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描述表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feature_id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13094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同一索引的描述文本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02796-6F7C-4F7E-AA5B-20D90870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38475"/>
            <a:ext cx="838200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1B458-B967-431C-A274-5858172C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71675"/>
            <a:ext cx="3619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7D258-F1F9-4EEB-99CF-06025353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38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解释表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65A1D-C256-429D-9556-4098191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432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位置 24</a:t>
            </a:r>
          </a:p>
          <a:p xmlns:a="http://schemas.openxmlformats.org/drawingml/2006/main">
            <a:pPr algn="ctr">
              <a:defRPr sz="1350" b="0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feature 13094</a:t>
            </a:r>
          </a:p>
          <a:p xmlns:a="http://schemas.openxmlformats.org/drawingml/2006/main">
            <a:pPr algn="ctr">
              <a:defRPr sz="1350" b="0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raw activation 4.6875</a:t>
            </a:r>
          </a:p>
          <a:p xmlns:a="http://schemas.openxmlformats.org/drawingml/2006/main">
            <a:pPr algn="ctr">
              <a:defRPr sz="1350" b="0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描述：β 链连接 loop / turn 候选语义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FBE6C-A3A1-4AD1-8612-AA31E005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14900"/>
            <a:ext cx="3381375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E6626-1352-46E0-A219-F854AD63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149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0A181-2919-4338-B970-8ECD77A7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48250"/>
            <a:ext cx="3067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覆盖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6B23D-A190-4330-ABE0-9546E60C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24475"/>
            <a:ext cx="3067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1,134 个活跃 feature ID 均能连接到描述条目。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0BD2C-30A2-4B3A-91C7-A5AB72E6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14900"/>
            <a:ext cx="3381375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68FB0-2B95-46FC-B6DF-A734F95D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149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F964C-1E18-4407-8CBE-34A0A9E0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048250"/>
            <a:ext cx="3067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量纲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4D576E-EB8E-427E-B3EC-D4659A82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324475"/>
            <a:ext cx="3067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activation 是 raw 数值，跨 feature ID 未校准为置信度。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78C73C-4F2A-4708-8EF8-B0FA504B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14900"/>
            <a:ext cx="38481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F2E589-1A31-45C8-94B0-5A75D7F7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149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26B69-8E01-435A-8BF1-167CD66D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048250"/>
            <a:ext cx="35337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描述状态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ACBC32-8C17-447A-B58D-A28A18FD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324475"/>
            <a:ext cx="3533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描述提供机制线索。</a:t>
            </a:r>
          </a:p>
          <a:p xmlns:a="http://schemas.openxmlformats.org/drawingml/2006/main">
            <a:pPr algn="l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部分条目仍通用或含义待核。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03B167-C56D-4E96-BA85-435E2C16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来源：sae_residue_activations.csv；sae_feature_summary.csv；normalized_slide_data.json::sae_data</a:t>
            </a:r>
          </a:p>
        </p:txBody>
      </p:sp>
    </p:spTree>
    <p:extLst>
      <p:ext uri="{BB962C8B-B14F-4D97-AF65-F5344CB8AC3E}">
        <p14:creationId xmlns:p14="http://schemas.microsoft.com/office/powerpoint/2010/main" val="133917193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3E212B-6426-4953-8630-713B7200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M1 的两个代表性激活特征对应序列起点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C5158-EC24-4D02-A4DC-03C40CBF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两个 feature 都指向 N 端或 initiator methionine 语义，解释 M1 的端点信号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AFA1F-2DAB-4F49-BA57-F38C5279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54A41-0A0D-420E-AEF8-FD09195E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SAE 解释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D3786-062B-4025-BF63-E6C92B07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27 / 34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476250" y="1943100"/>
          <a:ext xmlns:a="http://schemas.openxmlformats.org/drawingml/2006/main" cx="70485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1524000"/>
                <a:gridCol w="1524000"/>
                <a:gridCol w="2619375"/>
              </a:tblGrid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feature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activation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活跃位置数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描述的中文概括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</a:tr>
              <a:tr h="74771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F8545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9.5625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可及肽链 N 端与邻近位置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771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F11504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3.4375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翻译起始 M1 身份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F7118-781A-4A47-A821-77B9EF88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43100"/>
            <a:ext cx="3810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86552-D486-4006-8FEC-42276D2B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8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28E2B"/>
                </a:solidFill>
                <a:latin typeface="Microsoft YaHei"/>
                <a:ea typeface="Microsoft YaHei"/>
                <a:cs typeface="Microsoft YaHei"/>
              </a:rPr>
              <a:t>M1 位置窗口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FE6A8-A732-4C8C-A5BF-A6A6AEB1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&lt;cls&gt;  M  S  K  G  E  E  L 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8D0A8-D1E0-4DF2-AEBD-46ACBF78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M1 是序列起始甲硫氨酸。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79D94-012D-4D36-874C-466B8E75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533400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FCD67-E1DB-4941-8D76-43623A2E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78047E-CF6D-4432-84F9-A8AA2DEF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24350"/>
            <a:ext cx="501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与 ranking 的关系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F714D-DFA8-43DB-8337-BC1150DD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00575"/>
            <a:ext cx="50196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M1 的综合分数最高。SAE 特征提供端点语义解释，端点敏感性仍需独立检验。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DC51A-DA92-4D32-B779-C46A81F1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52450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00878B-FE57-4E11-83AF-84FC0E04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solidFill>
              <a:srgbClr val="C6282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66ECB2-226F-4E3A-A27F-9D6D9A5A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24350"/>
            <a:ext cx="5210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读数边界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ECD08-191E-4888-8A51-5EE4ADC0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00575"/>
            <a:ext cx="52101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这两个 feature 是代表性激活特征。raw activation 的大小不作为跨 feature 的置信度比较。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851FB-1527-42D5-A83A-DA4139F2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来源：normalized_slide_data.json::sae_data.representative_features[1]；sae_feature_summary.csv</a:t>
            </a:r>
          </a:p>
        </p:txBody>
      </p:sp>
    </p:spTree>
    <p:extLst>
      <p:ext uri="{BB962C8B-B14F-4D97-AF65-F5344CB8AC3E}">
        <p14:creationId xmlns:p14="http://schemas.microsoft.com/office/powerpoint/2010/main" val="47360283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719B1-560E-4A11-BF15-AE7A4DBB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G24 的稀疏特征符合转角候选语义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EA4AA-1EF5-4D67-B347-1F5FFF50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两个代表性特征都描述 β 链连接的 loop / turn 候选，结构记录提供局部编号上下文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062B6-6EA5-4E27-AD98-60404F97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0E8A6-81FF-454D-8237-C56B627E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SAE 解释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F874D-9C22-43EC-940C-05530DFA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28 / 34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476250" y="1924050"/>
          <a:ext xmlns:a="http://schemas.openxmlformats.org/drawingml/2006/main" cx="7191375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1524000"/>
                <a:gridCol w="1524000"/>
                <a:gridCol w="2762250"/>
              </a:tblGrid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feature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activation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活跃位置数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描述的中文概括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</a:tr>
              <a:tr h="74771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F13094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4.6875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β 链连接 loop / turn 候选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771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F9528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4.5313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Gly 中心紧凑 β turn / hairpin 候选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3A090-87A1-45B8-BA64-243DD579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24050"/>
            <a:ext cx="36957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81FCE-71E1-4A79-AEA0-E693EE67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rPr>
              <a:t>PDB 编号上下文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5B608-A739-47D6-AE96-D40965ED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输入 G24</a:t>
            </a:r>
          </a:p>
          <a:p xmlns:a="http://schemas.openxmlformats.org/drawingml/2006/main">
            <a:pPr algn="ctr">
              <a:defRPr sz="120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polymer label 24</a:t>
            </a:r>
          </a:p>
          <a:p xmlns:a="http://schemas.openxmlformats.org/drawingml/2006/main">
            <a:pPr algn="ctr">
              <a:defRPr sz="120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author residue 24</a:t>
            </a:r>
          </a:p>
          <a:p xmlns:a="http://schemas.openxmlformats.org/drawingml/2006/main">
            <a:pPr algn="ctr">
              <a:defRPr sz="120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当前 RCSB：labels 23–24 未分配二级结构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ADFAF-0A5B-46AB-83CE-B10B2010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533400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74227-081E-424B-9B52-532BFE86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EB1AF-DCC5-434F-9851-39EB9B5F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24350"/>
            <a:ext cx="501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机制假设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F61B5-5891-4A71-90FE-1C81C1F7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00575"/>
            <a:ext cx="50196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特征描述与 β 链连接或转角语义相容。它们为 G24 的局部结构解释提供候选线索。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F0D892-B315-4359-9378-A2453DE3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52450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2817D-224A-4FE7-B92A-EE2E23EB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solidFill>
              <a:srgbClr val="C6282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A7DF7-D2DF-4B39-B4CD-30A1A974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24350"/>
            <a:ext cx="5210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115DE-8B34-485E-99A7-67A9E0EB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00575"/>
            <a:ext cx="52101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当前 RCSB 记录将 labels 23–24 标为未分配二级结构。feature 描述不构成 GFP 特异因果结论。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B041BD-25E2-4C21-9F5B-FAE264C4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来源：normalized_slide_data.json::sae_data.representative_features[24]；p30_mapping_table；RCSB 1EMA</a:t>
            </a:r>
          </a:p>
        </p:txBody>
      </p:sp>
    </p:spTree>
    <p:extLst>
      <p:ext uri="{BB962C8B-B14F-4D97-AF65-F5344CB8AC3E}">
        <p14:creationId xmlns:p14="http://schemas.microsoft.com/office/powerpoint/2010/main" val="37109799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8E06CE-9FED-4341-B432-BA96256C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G40 与 K45 的特征指向 β 结构上下文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3173D-59FF-4D62-A535-0AF738D6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G40 与 K45 的代表性 feature 提供局部 β 结构语义，PDB 记录对两者给出不同的结构状态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61AB2-7EB2-4AF2-B2E5-465DAF53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CDAD0-7BFB-4B0B-AC4F-8CCAC4CF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SAE 解释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6441F-28F7-43AB-A6E7-C3377034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29 /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C0B96-8FDF-42B8-B072-F61C1033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533400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07679-96D5-4C0E-BD4D-F10011F7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G40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81314-723F-4416-8756-9FCB300B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2193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F6141  ·  5.1563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87EAC-BACD-4E8B-B6D0-D221A360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描述概括：β 链起点与 edge strand，含 loop-to-β junction 候选。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3B5B4-11FE-49EB-A3E0-460AA861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PDB：input 40 → label 40。labels 37–40 当前为未分配二级结构。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139EA-4A7D-4306-A396-94BB8E41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533400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BF9EC-6B08-48B5-B2C7-3543D918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K45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064EC-B30F-4FC7-946D-3EC62F7B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193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F3904  ·  3.2344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196A6D-F31B-4185-8946-5508D7F8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描述概括：ordered β-sheet secondary-structure signal。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A7A4D-23EF-4E49-979E-5BF6DBAB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PDB：input 45 → label 45。labels 41–48 当前为 sheet。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12C3DB-F79A-4280-924A-C3880A04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48250"/>
            <a:ext cx="112395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7CC69-4D32-4D2D-A59C-F49D0F84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482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7AEBAC-A72C-4F03-83FE-FB32CFE6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81600"/>
            <a:ext cx="10925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结构相容性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05B50-E848-4CF9-B62D-DF05A249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57825"/>
            <a:ext cx="10925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G40 与 K45 的 feature 描述可与局部 β 结构环境对照。两项解释都保留 feature 描述和 PDB 记录之间的证据层级。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731902-875B-415C-920F-DD87EACA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来源：normalized_slide_data.json::sae_data.representative_features；p30_mapping_table；RCSB 1EMA</a:t>
            </a:r>
          </a:p>
        </p:txBody>
      </p:sp>
    </p:spTree>
    <p:extLst>
      <p:ext uri="{BB962C8B-B14F-4D97-AF65-F5344CB8AC3E}">
        <p14:creationId xmlns:p14="http://schemas.microsoft.com/office/powerpoint/2010/main" val="52988394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62F83F-406A-4695-BB03-78D5B5E1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PDB 位点解释依赖正确的残基编号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915C1-72A7-4FBA-AD1F-F1CA1785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1EMA 是 S65T/Q80R 变体，CRO 将输入 65–67 合并为一条结构记录，后续 polymer label 偏移两位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8F3F0-3E41-4C68-93E1-D75D923C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C93DF-4E34-47C5-BC7A-52DA27C9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结构审计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6EADC-C671-4C80-B901-52C94562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30 / 34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476250" y="1828800"/>
          <a:ext xmlns:a="http://schemas.openxmlformats.org/drawingml/2006/main" cx="112395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619250"/>
                <a:gridCol w="1381125"/>
                <a:gridCol w="1666875"/>
                <a:gridCol w="4762500"/>
              </a:tblGrid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FASTA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label_seq_id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author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PDB component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当前结构上下文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</a:tr>
              <a:tr h="410936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未分配二级结构 (polymer labels 1-3)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0936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G24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未分配二级结构 (polymer labels 23-24)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0936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S65/Y66/G67</a:t>
                      </a:r>
                    </a:p>
                  </a:txBody>
                  <a:tcPr marL="91440" marR="91440" marT="45720" marB="45720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</a:t>
                      </a:r>
                    </a:p>
                  </a:txBody>
                  <a:tcPr marL="91440" marR="91440" marT="45720" marB="45720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</a:t>
                      </a:r>
                    </a:p>
                  </a:txBody>
                  <a:tcPr marL="91440" marR="91440" marT="45720" marB="45720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CRO</a:t>
                      </a:r>
                    </a:p>
                  </a:txBody>
                  <a:tcPr marL="91440" marR="91440" marT="45720" marB="45720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CRO 合并记录</a:t>
                      </a:r>
                    </a:p>
                  </a:txBody>
                  <a:tcPr marL="91440" marR="91440" marT="45720" marB="45720" anchor="ctr">
                    <a:solidFill>
                      <a:srgbClr val="FFF4E6"/>
                    </a:solidFill>
                  </a:tcPr>
                </a:tc>
              </a:tr>
              <a:tr h="410936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G91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未分配二级结构 (polymer labels 85-89)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0936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D173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未分配二级结构 (polymer labels 169-173)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0936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G174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未分配二级结构 (polymer labels 169-173)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0936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L195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未分配二级结构 (polymer labels 186-196)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2C64B-2071-4F18-85CD-2E993842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48250"/>
            <a:ext cx="5286375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98D3C-A6D0-42CF-954B-9834FC2E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482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3858D-E097-41E5-AC3D-BBC78D93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81600"/>
            <a:ext cx="4972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映射规则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A3075-1674-4BCA-8DB0-486C196F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57825"/>
            <a:ext cx="4972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输入 1–64：label=input。输入 65–67：同一 CRO label65 / author66。输入 68–238：label=input−2。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A5EA1-3AA0-47E4-BDB7-B9A429AC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56197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889AF-B39F-4B1C-9691-B6DDCC15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solidFill>
              <a:srgbClr val="C6282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DD22C-21F9-4A26-A0EF-5FBA3D45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181600"/>
            <a:ext cx="5305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变体与解释规则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7A3A4-5C05-4B1F-A6A1-1C89C158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457825"/>
            <a:ext cx="5305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canonical P42212 输入为 S65/Y66/G67。1EMA 是 S65T/Q80R 变体，CRO(label65/auth66) 仅作成熟色团结构参照。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2B434-0AA2-4275-B4D2-568AFBDE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来源：normalized_slide_data.json::p30_mapping_table；RCSB 1EMA mmCIF / current API</a:t>
            </a:r>
          </a:p>
        </p:txBody>
      </p:sp>
    </p:spTree>
    <p:extLst>
      <p:ext uri="{BB962C8B-B14F-4D97-AF65-F5344CB8AC3E}">
        <p14:creationId xmlns:p14="http://schemas.microsoft.com/office/powerpoint/2010/main" val="25692391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24A92F-F24D-424A-B1E1-859C7DA7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多个高激活描述缺少 GFP 特异证据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88B1F-FBD5-4481-BD87-8B6CD6A5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通用 identity 或结构语义可作为解释线索，仍需与正确编号和独立生物学证据结合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3CB97-0B2F-40D6-95AB-A5C00EBD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A7BA8-77DB-428A-A4F8-A02AF4D4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结构审计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AA526-38EE-4DEE-AAF2-048C9DFC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31 / 34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476250" y="1905000"/>
          <a:ext xmlns:a="http://schemas.openxmlformats.org/drawingml/2006/main" cx="112395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1476375"/>
                <a:gridCol w="1809750"/>
                <a:gridCol w="3429000"/>
                <a:gridCol w="3429000"/>
              </a:tblGrid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site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feature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raw activation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描述概括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证据边界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L195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F16243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7.9688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Leu / α-helix 语义标签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PDB labels 186–196 未分配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L195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F5474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7.7813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low-complexity / coil 语义标签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PDB labels 186–196 未分配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F627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7.1875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generic Ser identity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identity 语义需外部功能证据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Y66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F6579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10.5625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generic Tyr identity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identity 语义需外部功能证据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G67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F9237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6.9688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generic Gly identity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identity 语义需外部功能证据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E85EA-E669-47A5-964B-D5BEC64D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0150"/>
            <a:ext cx="5429250" cy="885825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6ACCB-A319-408B-AAFD-B443059B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0150"/>
            <a:ext cx="666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solidFill>
              <a:srgbClr val="C6282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2277B-2443-4AD3-A8F6-1B08133A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43500"/>
            <a:ext cx="5114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L195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C01A1-6414-4E2A-9705-82A8B057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19725"/>
            <a:ext cx="5114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α-helix 与 low-complexity 标签来自 feature 描述。polymer labels 186–196（author/input 188–198）未分配二级结构。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1F24D-5257-43A1-A349-8A919718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5429250" cy="885825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98743-AD66-4446-BA12-1F8751D5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666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730B7-E2FD-4166-AA6E-A37F3FA0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143500"/>
            <a:ext cx="5114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发色团三位点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C3908-50AF-4C28-BA31-FBB3C9BF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419725"/>
            <a:ext cx="5114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S65、Y66、G67 的 feature 可呈现通用残基身份标签。它们需要与 CRO 编号审计和功能证据共同解读。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A93DB-8368-47F2-A5AE-270987D0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来源：normalized_slide_data.json::p31_control_feature_table；p30_mapping_table；RCSB 1EMA</a:t>
            </a:r>
          </a:p>
        </p:txBody>
      </p:sp>
    </p:spTree>
    <p:extLst>
      <p:ext uri="{BB962C8B-B14F-4D97-AF65-F5344CB8AC3E}">
        <p14:creationId xmlns:p14="http://schemas.microsoft.com/office/powerpoint/2010/main" val="90435053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E1325E-E834-4DF9-B8B4-7636DA93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当前证据支持流程完成与结构假设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2C1FB-A3F5-4602-90C7-D656477D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运行观察、外部确认与后续校准任务在同一页面分层保留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96558-3A83-4D42-BFDD-2F95ADC2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BA19D-5924-4718-B26A-63DD6228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结构审计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A2883-62B0-42DF-A173-F014466E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32 /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54FA7-5DFA-4110-A670-0E0307B2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62150"/>
            <a:ext cx="352425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59DA5-CF3F-4431-AF5C-09F81E3C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62150"/>
            <a:ext cx="3524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B143E-59F3-4B19-AF75-1345A97F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56A0"/>
                </a:solidFill>
                <a:latin typeface="Microsoft YaHei"/>
                <a:ea typeface="Microsoft YaHei"/>
                <a:cs typeface="Microsoft YaHei"/>
              </a:rPr>
              <a:t>直接观测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D5613-9CA3-4103-A75C-7F82F506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28765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238 个 residue H rows</a:t>
            </a:r>
          </a:p>
          <a:p xmlns:a="http://schemas.openxmlformats.org/drawingml/2006/main">
            <a:pPr algn="ctr">
              <a:def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238 次单点遮挡评分</a:t>
            </a:r>
          </a:p>
          <a:p xmlns:a="http://schemas.openxmlformats.org/drawingml/2006/main">
            <a:pPr algn="ctr">
              <a:def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15,232 条导出 SAE activation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B1608-488B-495B-9151-54F5C67F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AA446-2A68-4A3E-90F1-4423A259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本次运行工件可逐项复核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ED1F6-D617-4C63-9C1E-1A2E82BC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62150"/>
            <a:ext cx="352425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D81B6-D482-4697-8AC3-14CBCB00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62150"/>
            <a:ext cx="3524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430361-0BEC-465E-BA26-021724B3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669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外部确认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A19D21-718C-48B3-BB47-9DB02778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81300"/>
            <a:ext cx="28765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UniProt P42212 序列</a:t>
            </a:r>
          </a:p>
          <a:p xmlns:a="http://schemas.openxmlformats.org/drawingml/2006/main">
            <a:pPr algn="ctr">
              <a:def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1EMA 发色团与编号映射</a:t>
            </a:r>
          </a:p>
          <a:p xmlns:a="http://schemas.openxmlformats.org/drawingml/2006/main">
            <a:pPr algn="ctr">
              <a:def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RCSB 当前结构上下文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EBC196-B956-43F2-B1F9-44B23451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83EB76-3755-40C0-845F-A6A1A5E9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767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外部资料提供结构参照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7E43A-00AF-4BD5-A88F-9EC78921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352425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A7A8E0-0718-423F-B604-0F0B0403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3524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solidFill>
              <a:srgbClr val="C6282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519DF9-9D50-4AC8-B2C7-AE4233A6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669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待校准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D77CF4-676D-4EE9-96A4-6871E38A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81300"/>
            <a:ext cx="28765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官方输出 parity</a:t>
            </a:r>
          </a:p>
          <a:p xmlns:a="http://schemas.openxmlformats.org/drawingml/2006/main">
            <a:pPr algn="ctr">
              <a:def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跨 kernel 数值与 MLM baseline</a:t>
            </a:r>
          </a:p>
          <a:p xmlns:a="http://schemas.openxmlformats.org/drawingml/2006/main">
            <a:pPr algn="ctr">
              <a:def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feature 校准、多蛋白与 DMS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135D01-C54F-4271-A904-617A4728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957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EEE53-8455-4B48-9D07-A6550C13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767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后续实验决定外推范围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35EF9F-5520-4FA7-8117-D1282F53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0150"/>
            <a:ext cx="11239500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6C879E-6649-4B14-A49A-7BAD1CD4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0150"/>
            <a:ext cx="666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A4401-E69F-4401-B3D3-A315DDBD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43500"/>
            <a:ext cx="10925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已解决的 tokenizer 事实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C6FFBF-1FBF-43F9-B93C-3F533BC5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19725"/>
            <a:ext cx="10925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config=31 是遗留序列化字段。本次遮挡实际使用官方 tokenizer 的 &lt;mask&gt;=32。待校准项聚焦跨实现数值与 MLM baseline。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999F22-E95D-4985-B659-66AAD6A8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来源：EVIDENCE_AUDIT.md；normalized_slide_data.json；UniProt P42212；RCSB 1EMA</a:t>
            </a:r>
          </a:p>
        </p:txBody>
      </p:sp>
    </p:spTree>
    <p:extLst>
      <p:ext uri="{BB962C8B-B14F-4D97-AF65-F5344CB8AC3E}">
        <p14:creationId xmlns:p14="http://schemas.microsoft.com/office/powerpoint/2010/main" val="37477692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5BA605-6FB2-4181-A905-396E0FA5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复现 manifest 固定版本、精度与评分规则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DCB39-42B9-4D7D-AF37-7241B1B8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同一份版本清单连接模型、SAE、运行时、评分设置和审计脚本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420C0-8876-412A-A72A-88BC1410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3B4EA-FB91-4323-8448-BEE3F9B9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复现与交付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028AE-937D-4C9E-B2F8-B7E09230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33 / 34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476250" y="1847850"/>
          <a:ext xmlns:a="http://schemas.openxmlformats.org/drawingml/2006/main" cx="112395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5905500"/>
                <a:gridCol w="3333750"/>
              </a:tblGrid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固定记录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本次设置 / 校验</a:t>
                      </a:r>
                    </a:p>
                  </a:txBody>
                  <a:tcPr marL="91440" marR="91440" marT="45720" marB="45720" anchor="ctr">
                    <a:solidFill>
                      <a:srgbClr val="1456A0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ESMC 权重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biohub/esmc-6b-2024-12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ffd268e4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SAE 权重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layer60 · k64 · codebook16384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99752fe6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运行时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3.12.10 · torch 2.11.0+cu128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BF16 · batch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候选评分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novelty window ±5 · weights 0.7 / 0.3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238 positions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结构审计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1EMA mmCIF + current 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编号映射已记录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runner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run_esmc_site_pipeline.py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SHA256 ef10ff3e…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48B711-485C-4E9F-B6CD-C1859A77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81575"/>
            <a:ext cx="23812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467C5-4B9A-4025-B464-274A8FE0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81575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ACE0E-57D8-4B63-8EFC-970F4B9D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625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timestamped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136A5-91E2-4791-A37A-650630BF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673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CSV · NPZ · metadata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51F81-4DD0-44DC-B580-E9853173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3400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D0823-3F82-4748-A0F1-857FFAAD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81575"/>
            <a:ext cx="23812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30DAB-D77D-4FAE-8235-0D351F97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81575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B5696C-1153-4E56-AC50-448FD584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625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normalized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AB460-60E8-4319-ADBB-ABAB9599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4673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slide-ready audit fields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DDB02-97AA-4C7B-B593-5A447CEA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33400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76001-29BD-424E-BC7F-8221FD3A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81575"/>
            <a:ext cx="28575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02663F-1E03-4020-800F-85AC1ED4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81575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53682-1D1B-40F6-9D89-2EF29416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6255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32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PPT + notes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83AF71-7DB1-42CF-89E3-E1D3C264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673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可追踪的来源与讲稿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475BC8-7963-4626-8C1B-6C087954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来源：evidence.json::run_metadata；normalized_slide_data.json；run_metadata.json；SOURCE_LEDGER.md</a:t>
            </a:r>
          </a:p>
        </p:txBody>
      </p:sp>
    </p:spTree>
    <p:extLst>
      <p:ext uri="{BB962C8B-B14F-4D97-AF65-F5344CB8AC3E}">
        <p14:creationId xmlns:p14="http://schemas.microsoft.com/office/powerpoint/2010/main" val="212227167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00CC92-F0BE-4747-A2F9-04D3470C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本地链路给出候选排序与可检验的 SAE 假设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47E3A-A7C5-4CE5-8362-4E7A5ED8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062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交付物保留完整评分、正确编号与证据边界，后续工作聚焦可校准的比较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56A6B-9884-4FE6-B853-15325773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456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ECD60-78C6-4A3C-B440-C880A4C7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复现与交付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CFC16-7FF4-4DAA-8281-1F08FE8E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34 /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A627A-990C-446A-999E-A9D7CA83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1952625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2C5D8-A2A5-4B9B-A2B4-C86E0C2F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FBCC2-30FA-4054-ABCE-BCA9A317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FASTA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1B2A0-9DED-4997-9E51-CDDDDBAD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0982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238 aa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84016-641C-4617-A158-0E7E93E3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257425"/>
            <a:ext cx="2762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B4B2A-E6AD-498E-A69B-8DC8CA55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24050"/>
            <a:ext cx="1952625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FE411-D47A-461D-8B69-E018CBCC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2405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58910-D2E3-4CDC-9A63-E48A093B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0502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8E2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28E2B"/>
                </a:solidFill>
                <a:latin typeface="Consolas"/>
                <a:ea typeface="Consolas"/>
                <a:cs typeface="Consolas"/>
              </a:rPr>
              <a:t>ESMC 6B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802BF-3238-407E-BFFA-6C89EC32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40982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H + mask scan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7BA08C-5418-443B-B98A-BD650626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57425"/>
            <a:ext cx="2762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54186-72A5-4126-8702-8D3857F7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24050"/>
            <a:ext cx="1952625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4093C5-91CE-4EAB-928F-6D4669FD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2405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C00F56-E6C0-4A44-A78F-B16457AE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0502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56A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456A0"/>
                </a:solidFill>
                <a:latin typeface="Consolas"/>
                <a:ea typeface="Consolas"/>
                <a:cs typeface="Consolas"/>
              </a:rPr>
              <a:t>ranking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701394-0957-4738-8895-AD56D1BC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0982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0657A"/>
                </a:solidFill>
                <a:latin typeface="Consolas"/>
                <a:ea typeface="Consolas"/>
                <a:cs typeface="Consolas"/>
              </a:rPr>
              <a:t>m + novelty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98DCBE-64D0-449B-8A86-72F82FB9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257425"/>
            <a:ext cx="2762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4AE323-AFA7-44A2-9901-365D8D94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24050"/>
            <a:ext cx="1952625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49F221-1239-4424-8485-701FF6E8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2405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31BDA1-76FD-4733-969E-D764FC10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0502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SAE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D72D07-AF12-48F3-96C7-32343D56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40982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代表性激活特征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84582-9289-4D2E-8219-AB1BA30B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257425"/>
            <a:ext cx="2762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F886EE-8BB8-40B8-AD17-041A8AD3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24050"/>
            <a:ext cx="1952625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FE83D0-61A5-4688-849B-1095F453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2405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solidFill>
              <a:srgbClr val="C6282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00E382-83C6-4854-A122-A1301E40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10502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audit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6A61C6-D0BA-4A9A-A3FD-91301E39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40982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编号 + 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074028-4EB7-4FD3-A327-679BF16E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90900"/>
            <a:ext cx="35242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B7DE3B-F38D-4742-8393-36F2F45D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90900"/>
            <a:ext cx="6667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solidFill>
              <a:srgbClr val="1456A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6596FE-BEC3-424C-AE01-C40C991F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24250"/>
            <a:ext cx="3209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可交付结论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0BA52F-616C-4AFF-B145-F97765AD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00475"/>
            <a:ext cx="32099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单张 16GB GPU 完成序列表示、遮挡扫描、候选表和 SAE 稀疏激活导出。所有主图回连到本次运行数据。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B71687-0A18-46D5-B7DB-F5CA7583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90900"/>
            <a:ext cx="35242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33F097-7061-4E36-B034-C7D288CF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90900"/>
            <a:ext cx="6667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969E4A-4678-4E6C-8C23-10D28632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24250"/>
            <a:ext cx="3209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解释结论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34D71F-14A3-489D-BE04-6663C5C9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00475"/>
            <a:ext cx="32099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M1、G24、G40、K45</a:t>
            </a:r>
          </a:p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解释保留编号与原始激活值边界。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BE09B1-39B3-4E44-A046-13DB2067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90900"/>
            <a:ext cx="35242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592A8A-32FC-43A4-824C-87C6082C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90900"/>
            <a:ext cx="6667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BA37D8-32D1-4A20-BDB2-D02A4DD3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24250"/>
            <a:ext cx="3209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B9E689-7D6A-4A53-ADAE-A4C650FE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800475"/>
            <a:ext cx="32099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57A"/>
                </a:solidFill>
                <a:latin typeface="Microsoft YaHei"/>
                <a:ea typeface="Microsoft YaHei"/>
                <a:cs typeface="Microsoft YaHei"/>
              </a:rPr>
              <a:t>建立官方 matched inference baseline，复核编号映射，并在多种已知蛋白与功能数据上校准候选评分和 feature 解释。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5F6487-145A-48FD-B5D7-C94E5D16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24475"/>
            <a:ext cx="97155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AE365F-9795-483A-BDE8-231236AB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457825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当前排名仅由条件偏好和新颖度计算。SAE 用于事后解释，结构与功能结论依赖后续校准。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9B6377-964B-4A94-B8AB-162F9C23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032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0657A"/>
                </a:solidFill>
                <a:latin typeface="Arial"/>
                <a:ea typeface="Arial"/>
                <a:cs typeface="Arial"/>
              </a:rPr>
              <a:t>来源：本 deck 的运行工件、EVIDENCE_AUDIT.md、SOURCE_LEDGER.md；结论范围见 P32–P33</a:t>
            </a:r>
          </a:p>
        </p:txBody>
      </p:sp>
    </p:spTree>
    <p:extLst>
      <p:ext uri="{BB962C8B-B14F-4D97-AF65-F5344CB8AC3E}">
        <p14:creationId xmlns:p14="http://schemas.microsoft.com/office/powerpoint/2010/main" val="4756661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2026-09-06T14:53:03.3070000Z</dcterms:created>
  <dcterms:modified xsi:type="dcterms:W3CDTF">2026-09-06T14:53:03.3070000Z</dcterms:modified>
</coreProperties>
</file>